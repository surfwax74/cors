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2"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46" autoAdjust="0"/>
    <p:restoredTop sz="94660"/>
  </p:normalViewPr>
  <p:slideViewPr>
    <p:cSldViewPr snapToGrid="0">
      <p:cViewPr varScale="1">
        <p:scale>
          <a:sx n="150" d="100"/>
          <a:sy n="150" d="100"/>
        </p:scale>
        <p:origin x="150"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6A444-FF1A-4D92-1E11-CB301B1969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4D7F9A-22B8-F6E8-18D9-6ACF815A38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10DA0A-2936-E212-91D6-943539516861}"/>
              </a:ext>
            </a:extLst>
          </p:cNvPr>
          <p:cNvSpPr>
            <a:spLocks noGrp="1"/>
          </p:cNvSpPr>
          <p:nvPr>
            <p:ph type="dt" sz="half" idx="10"/>
          </p:nvPr>
        </p:nvSpPr>
        <p:spPr/>
        <p:txBody>
          <a:bodyPr/>
          <a:lstStyle/>
          <a:p>
            <a:fld id="{5F79008F-9874-4EAA-8145-C2E917BF01AF}" type="datetimeFigureOut">
              <a:rPr lang="en-US" smtClean="0"/>
              <a:t>6/16/2026</a:t>
            </a:fld>
            <a:endParaRPr lang="en-US"/>
          </a:p>
        </p:txBody>
      </p:sp>
      <p:sp>
        <p:nvSpPr>
          <p:cNvPr id="5" name="Footer Placeholder 4">
            <a:extLst>
              <a:ext uri="{FF2B5EF4-FFF2-40B4-BE49-F238E27FC236}">
                <a16:creationId xmlns:a16="http://schemas.microsoft.com/office/drawing/2014/main" id="{55F6F515-F369-4C67-FAEF-92C4EE092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ED56AC-A17B-4EE4-8ACD-21E61B1AD097}"/>
              </a:ext>
            </a:extLst>
          </p:cNvPr>
          <p:cNvSpPr>
            <a:spLocks noGrp="1"/>
          </p:cNvSpPr>
          <p:nvPr>
            <p:ph type="sldNum" sz="quarter" idx="12"/>
          </p:nvPr>
        </p:nvSpPr>
        <p:spPr/>
        <p:txBody>
          <a:bodyPr/>
          <a:lstStyle/>
          <a:p>
            <a:fld id="{538EF38D-BCE6-416B-8A66-160425705C2A}" type="slidenum">
              <a:rPr lang="en-US" smtClean="0"/>
              <a:t>‹#›</a:t>
            </a:fld>
            <a:endParaRPr lang="en-US"/>
          </a:p>
        </p:txBody>
      </p:sp>
    </p:spTree>
    <p:extLst>
      <p:ext uri="{BB962C8B-B14F-4D97-AF65-F5344CB8AC3E}">
        <p14:creationId xmlns:p14="http://schemas.microsoft.com/office/powerpoint/2010/main" val="1881055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E7096-BDCD-5B6B-7731-0418123D31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FE434A-AAEC-7A89-F1F8-8D6FD23117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D3ACA3-D8B2-4893-11BC-A63AA122032F}"/>
              </a:ext>
            </a:extLst>
          </p:cNvPr>
          <p:cNvSpPr>
            <a:spLocks noGrp="1"/>
          </p:cNvSpPr>
          <p:nvPr>
            <p:ph type="dt" sz="half" idx="10"/>
          </p:nvPr>
        </p:nvSpPr>
        <p:spPr/>
        <p:txBody>
          <a:bodyPr/>
          <a:lstStyle/>
          <a:p>
            <a:fld id="{5F79008F-9874-4EAA-8145-C2E917BF01AF}" type="datetimeFigureOut">
              <a:rPr lang="en-US" smtClean="0"/>
              <a:t>6/16/2026</a:t>
            </a:fld>
            <a:endParaRPr lang="en-US"/>
          </a:p>
        </p:txBody>
      </p:sp>
      <p:sp>
        <p:nvSpPr>
          <p:cNvPr id="5" name="Footer Placeholder 4">
            <a:extLst>
              <a:ext uri="{FF2B5EF4-FFF2-40B4-BE49-F238E27FC236}">
                <a16:creationId xmlns:a16="http://schemas.microsoft.com/office/drawing/2014/main" id="{AC2EB8EE-1330-E2CA-770C-51A7F0D817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E7FE27-63EB-F138-9C72-59274678AC5D}"/>
              </a:ext>
            </a:extLst>
          </p:cNvPr>
          <p:cNvSpPr>
            <a:spLocks noGrp="1"/>
          </p:cNvSpPr>
          <p:nvPr>
            <p:ph type="sldNum" sz="quarter" idx="12"/>
          </p:nvPr>
        </p:nvSpPr>
        <p:spPr/>
        <p:txBody>
          <a:bodyPr/>
          <a:lstStyle/>
          <a:p>
            <a:fld id="{538EF38D-BCE6-416B-8A66-160425705C2A}" type="slidenum">
              <a:rPr lang="en-US" smtClean="0"/>
              <a:t>‹#›</a:t>
            </a:fld>
            <a:endParaRPr lang="en-US"/>
          </a:p>
        </p:txBody>
      </p:sp>
    </p:spTree>
    <p:extLst>
      <p:ext uri="{BB962C8B-B14F-4D97-AF65-F5344CB8AC3E}">
        <p14:creationId xmlns:p14="http://schemas.microsoft.com/office/powerpoint/2010/main" val="196242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E706F-F3CF-916E-C202-4C63CB4837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2011234-8F54-7665-4137-08BB4E0ECE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712129-AA81-A9C5-ACCB-7C9DB34FA6B2}"/>
              </a:ext>
            </a:extLst>
          </p:cNvPr>
          <p:cNvSpPr>
            <a:spLocks noGrp="1"/>
          </p:cNvSpPr>
          <p:nvPr>
            <p:ph type="dt" sz="half" idx="10"/>
          </p:nvPr>
        </p:nvSpPr>
        <p:spPr/>
        <p:txBody>
          <a:bodyPr/>
          <a:lstStyle/>
          <a:p>
            <a:fld id="{5F79008F-9874-4EAA-8145-C2E917BF01AF}" type="datetimeFigureOut">
              <a:rPr lang="en-US" smtClean="0"/>
              <a:t>6/16/2026</a:t>
            </a:fld>
            <a:endParaRPr lang="en-US"/>
          </a:p>
        </p:txBody>
      </p:sp>
      <p:sp>
        <p:nvSpPr>
          <p:cNvPr id="5" name="Footer Placeholder 4">
            <a:extLst>
              <a:ext uri="{FF2B5EF4-FFF2-40B4-BE49-F238E27FC236}">
                <a16:creationId xmlns:a16="http://schemas.microsoft.com/office/drawing/2014/main" id="{A6F29FB7-4ECA-5E07-416B-7731BAC8FF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89D332-7CF6-1D98-9C28-DE7C71C99D34}"/>
              </a:ext>
            </a:extLst>
          </p:cNvPr>
          <p:cNvSpPr>
            <a:spLocks noGrp="1"/>
          </p:cNvSpPr>
          <p:nvPr>
            <p:ph type="sldNum" sz="quarter" idx="12"/>
          </p:nvPr>
        </p:nvSpPr>
        <p:spPr/>
        <p:txBody>
          <a:bodyPr/>
          <a:lstStyle/>
          <a:p>
            <a:fld id="{538EF38D-BCE6-416B-8A66-160425705C2A}" type="slidenum">
              <a:rPr lang="en-US" smtClean="0"/>
              <a:t>‹#›</a:t>
            </a:fld>
            <a:endParaRPr lang="en-US"/>
          </a:p>
        </p:txBody>
      </p:sp>
    </p:spTree>
    <p:extLst>
      <p:ext uri="{BB962C8B-B14F-4D97-AF65-F5344CB8AC3E}">
        <p14:creationId xmlns:p14="http://schemas.microsoft.com/office/powerpoint/2010/main" val="408144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6D9E-03F4-2129-3D7A-91EC1AF8AF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F765BA-67CC-5A72-7650-772CFE3860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6B022C-F8FE-8F50-87E9-CE25CFF41F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EC1E9E-D7C1-CD87-506B-E9AEB8C04062}"/>
              </a:ext>
            </a:extLst>
          </p:cNvPr>
          <p:cNvSpPr>
            <a:spLocks noGrp="1"/>
          </p:cNvSpPr>
          <p:nvPr>
            <p:ph type="dt" sz="half" idx="10"/>
          </p:nvPr>
        </p:nvSpPr>
        <p:spPr/>
        <p:txBody>
          <a:bodyPr/>
          <a:lstStyle/>
          <a:p>
            <a:fld id="{5F79008F-9874-4EAA-8145-C2E917BF01AF}" type="datetimeFigureOut">
              <a:rPr lang="en-US" smtClean="0"/>
              <a:t>6/16/2026</a:t>
            </a:fld>
            <a:endParaRPr lang="en-US"/>
          </a:p>
        </p:txBody>
      </p:sp>
      <p:sp>
        <p:nvSpPr>
          <p:cNvPr id="6" name="Footer Placeholder 5">
            <a:extLst>
              <a:ext uri="{FF2B5EF4-FFF2-40B4-BE49-F238E27FC236}">
                <a16:creationId xmlns:a16="http://schemas.microsoft.com/office/drawing/2014/main" id="{4F9F0824-882F-9828-AC78-2F7E95DB91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B2E3C8-C200-CB81-ECD8-91FB6A0E9183}"/>
              </a:ext>
            </a:extLst>
          </p:cNvPr>
          <p:cNvSpPr>
            <a:spLocks noGrp="1"/>
          </p:cNvSpPr>
          <p:nvPr>
            <p:ph type="sldNum" sz="quarter" idx="12"/>
          </p:nvPr>
        </p:nvSpPr>
        <p:spPr/>
        <p:txBody>
          <a:bodyPr/>
          <a:lstStyle/>
          <a:p>
            <a:fld id="{538EF38D-BCE6-416B-8A66-160425705C2A}" type="slidenum">
              <a:rPr lang="en-US" smtClean="0"/>
              <a:t>‹#›</a:t>
            </a:fld>
            <a:endParaRPr lang="en-US"/>
          </a:p>
        </p:txBody>
      </p:sp>
    </p:spTree>
    <p:extLst>
      <p:ext uri="{BB962C8B-B14F-4D97-AF65-F5344CB8AC3E}">
        <p14:creationId xmlns:p14="http://schemas.microsoft.com/office/powerpoint/2010/main" val="3789323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1C787-64B3-F06D-1BEB-9C5200E4A3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7F80F00-B7C6-E06A-C8CB-20483A2257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C4191E-0326-7DB9-1762-C74C7E1D98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61C835A-8FC7-8321-79C1-1B0F286E89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9E9D61-1B91-0181-C4FA-2651DEF04C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49512A2-831E-4343-D371-7445F2609F84}"/>
              </a:ext>
            </a:extLst>
          </p:cNvPr>
          <p:cNvSpPr>
            <a:spLocks noGrp="1"/>
          </p:cNvSpPr>
          <p:nvPr>
            <p:ph type="dt" sz="half" idx="10"/>
          </p:nvPr>
        </p:nvSpPr>
        <p:spPr/>
        <p:txBody>
          <a:bodyPr/>
          <a:lstStyle/>
          <a:p>
            <a:fld id="{5F79008F-9874-4EAA-8145-C2E917BF01AF}" type="datetimeFigureOut">
              <a:rPr lang="en-US" smtClean="0"/>
              <a:t>6/16/2026</a:t>
            </a:fld>
            <a:endParaRPr lang="en-US"/>
          </a:p>
        </p:txBody>
      </p:sp>
      <p:sp>
        <p:nvSpPr>
          <p:cNvPr id="8" name="Footer Placeholder 7">
            <a:extLst>
              <a:ext uri="{FF2B5EF4-FFF2-40B4-BE49-F238E27FC236}">
                <a16:creationId xmlns:a16="http://schemas.microsoft.com/office/drawing/2014/main" id="{CD0AD108-1CCA-FA42-CCC5-9240A57FDB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1D167A-81AE-42D9-9FB3-D801A42D56FE}"/>
              </a:ext>
            </a:extLst>
          </p:cNvPr>
          <p:cNvSpPr>
            <a:spLocks noGrp="1"/>
          </p:cNvSpPr>
          <p:nvPr>
            <p:ph type="sldNum" sz="quarter" idx="12"/>
          </p:nvPr>
        </p:nvSpPr>
        <p:spPr/>
        <p:txBody>
          <a:bodyPr/>
          <a:lstStyle/>
          <a:p>
            <a:fld id="{538EF38D-BCE6-416B-8A66-160425705C2A}" type="slidenum">
              <a:rPr lang="en-US" smtClean="0"/>
              <a:t>‹#›</a:t>
            </a:fld>
            <a:endParaRPr lang="en-US"/>
          </a:p>
        </p:txBody>
      </p:sp>
    </p:spTree>
    <p:extLst>
      <p:ext uri="{BB962C8B-B14F-4D97-AF65-F5344CB8AC3E}">
        <p14:creationId xmlns:p14="http://schemas.microsoft.com/office/powerpoint/2010/main" val="2678860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0E453-9377-BB01-4CB1-A06625305B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E854DD-4E31-5680-9BE5-8587EBDB8A2D}"/>
              </a:ext>
            </a:extLst>
          </p:cNvPr>
          <p:cNvSpPr>
            <a:spLocks noGrp="1"/>
          </p:cNvSpPr>
          <p:nvPr>
            <p:ph type="dt" sz="half" idx="10"/>
          </p:nvPr>
        </p:nvSpPr>
        <p:spPr/>
        <p:txBody>
          <a:bodyPr/>
          <a:lstStyle/>
          <a:p>
            <a:fld id="{5F79008F-9874-4EAA-8145-C2E917BF01AF}" type="datetimeFigureOut">
              <a:rPr lang="en-US" smtClean="0"/>
              <a:t>6/16/2026</a:t>
            </a:fld>
            <a:endParaRPr lang="en-US"/>
          </a:p>
        </p:txBody>
      </p:sp>
      <p:sp>
        <p:nvSpPr>
          <p:cNvPr id="4" name="Footer Placeholder 3">
            <a:extLst>
              <a:ext uri="{FF2B5EF4-FFF2-40B4-BE49-F238E27FC236}">
                <a16:creationId xmlns:a16="http://schemas.microsoft.com/office/drawing/2014/main" id="{086FE8CA-3B14-C3E6-763F-3299DA7FBE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18E4504-D1CF-8173-9E04-D1A798276737}"/>
              </a:ext>
            </a:extLst>
          </p:cNvPr>
          <p:cNvSpPr>
            <a:spLocks noGrp="1"/>
          </p:cNvSpPr>
          <p:nvPr>
            <p:ph type="sldNum" sz="quarter" idx="12"/>
          </p:nvPr>
        </p:nvSpPr>
        <p:spPr/>
        <p:txBody>
          <a:bodyPr/>
          <a:lstStyle/>
          <a:p>
            <a:fld id="{538EF38D-BCE6-416B-8A66-160425705C2A}" type="slidenum">
              <a:rPr lang="en-US" smtClean="0"/>
              <a:t>‹#›</a:t>
            </a:fld>
            <a:endParaRPr lang="en-US"/>
          </a:p>
        </p:txBody>
      </p:sp>
    </p:spTree>
    <p:extLst>
      <p:ext uri="{BB962C8B-B14F-4D97-AF65-F5344CB8AC3E}">
        <p14:creationId xmlns:p14="http://schemas.microsoft.com/office/powerpoint/2010/main" val="383503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B6E0E0-614A-1988-4B67-D1F422862B70}"/>
              </a:ext>
            </a:extLst>
          </p:cNvPr>
          <p:cNvSpPr>
            <a:spLocks noGrp="1"/>
          </p:cNvSpPr>
          <p:nvPr>
            <p:ph type="dt" sz="half" idx="10"/>
          </p:nvPr>
        </p:nvSpPr>
        <p:spPr/>
        <p:txBody>
          <a:bodyPr/>
          <a:lstStyle/>
          <a:p>
            <a:fld id="{5F79008F-9874-4EAA-8145-C2E917BF01AF}" type="datetimeFigureOut">
              <a:rPr lang="en-US" smtClean="0"/>
              <a:t>6/16/2026</a:t>
            </a:fld>
            <a:endParaRPr lang="en-US"/>
          </a:p>
        </p:txBody>
      </p:sp>
      <p:sp>
        <p:nvSpPr>
          <p:cNvPr id="3" name="Footer Placeholder 2">
            <a:extLst>
              <a:ext uri="{FF2B5EF4-FFF2-40B4-BE49-F238E27FC236}">
                <a16:creationId xmlns:a16="http://schemas.microsoft.com/office/drawing/2014/main" id="{7A4BE0E8-19D5-01AE-94F8-6155F3A02B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C0508E-08DB-E67A-2238-A61EF44CBFA8}"/>
              </a:ext>
            </a:extLst>
          </p:cNvPr>
          <p:cNvSpPr>
            <a:spLocks noGrp="1"/>
          </p:cNvSpPr>
          <p:nvPr>
            <p:ph type="sldNum" sz="quarter" idx="12"/>
          </p:nvPr>
        </p:nvSpPr>
        <p:spPr/>
        <p:txBody>
          <a:bodyPr/>
          <a:lstStyle/>
          <a:p>
            <a:fld id="{538EF38D-BCE6-416B-8A66-160425705C2A}" type="slidenum">
              <a:rPr lang="en-US" smtClean="0"/>
              <a:t>‹#›</a:t>
            </a:fld>
            <a:endParaRPr lang="en-US"/>
          </a:p>
        </p:txBody>
      </p:sp>
    </p:spTree>
    <p:extLst>
      <p:ext uri="{BB962C8B-B14F-4D97-AF65-F5344CB8AC3E}">
        <p14:creationId xmlns:p14="http://schemas.microsoft.com/office/powerpoint/2010/main" val="4095218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F705E-D066-54CE-0739-E8230D2CEE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EA65FC-94A7-ECBF-5760-47489C22D8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D7C73C-E69B-0234-B104-FAF6CAE9C9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3BDB2B-A924-D61F-9CC1-9C4594B778C2}"/>
              </a:ext>
            </a:extLst>
          </p:cNvPr>
          <p:cNvSpPr>
            <a:spLocks noGrp="1"/>
          </p:cNvSpPr>
          <p:nvPr>
            <p:ph type="dt" sz="half" idx="10"/>
          </p:nvPr>
        </p:nvSpPr>
        <p:spPr/>
        <p:txBody>
          <a:bodyPr/>
          <a:lstStyle/>
          <a:p>
            <a:fld id="{5F79008F-9874-4EAA-8145-C2E917BF01AF}" type="datetimeFigureOut">
              <a:rPr lang="en-US" smtClean="0"/>
              <a:t>6/16/2026</a:t>
            </a:fld>
            <a:endParaRPr lang="en-US"/>
          </a:p>
        </p:txBody>
      </p:sp>
      <p:sp>
        <p:nvSpPr>
          <p:cNvPr id="6" name="Footer Placeholder 5">
            <a:extLst>
              <a:ext uri="{FF2B5EF4-FFF2-40B4-BE49-F238E27FC236}">
                <a16:creationId xmlns:a16="http://schemas.microsoft.com/office/drawing/2014/main" id="{248332A6-87F4-6E28-C6AB-ECB52F38B6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F198FF-E769-509B-7054-472B8B0F31CC}"/>
              </a:ext>
            </a:extLst>
          </p:cNvPr>
          <p:cNvSpPr>
            <a:spLocks noGrp="1"/>
          </p:cNvSpPr>
          <p:nvPr>
            <p:ph type="sldNum" sz="quarter" idx="12"/>
          </p:nvPr>
        </p:nvSpPr>
        <p:spPr/>
        <p:txBody>
          <a:bodyPr/>
          <a:lstStyle/>
          <a:p>
            <a:fld id="{538EF38D-BCE6-416B-8A66-160425705C2A}" type="slidenum">
              <a:rPr lang="en-US" smtClean="0"/>
              <a:t>‹#›</a:t>
            </a:fld>
            <a:endParaRPr lang="en-US"/>
          </a:p>
        </p:txBody>
      </p:sp>
    </p:spTree>
    <p:extLst>
      <p:ext uri="{BB962C8B-B14F-4D97-AF65-F5344CB8AC3E}">
        <p14:creationId xmlns:p14="http://schemas.microsoft.com/office/powerpoint/2010/main" val="2845236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64E0-06BC-5A09-846D-53BC7B7414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3A8E7B-FFB4-1318-BD7D-F1D1BACA81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D98678-5599-E29C-D162-B4FD150404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943458-4E56-8E15-AC5A-B2A24022F98E}"/>
              </a:ext>
            </a:extLst>
          </p:cNvPr>
          <p:cNvSpPr>
            <a:spLocks noGrp="1"/>
          </p:cNvSpPr>
          <p:nvPr>
            <p:ph type="dt" sz="half" idx="10"/>
          </p:nvPr>
        </p:nvSpPr>
        <p:spPr/>
        <p:txBody>
          <a:bodyPr/>
          <a:lstStyle/>
          <a:p>
            <a:fld id="{5F79008F-9874-4EAA-8145-C2E917BF01AF}" type="datetimeFigureOut">
              <a:rPr lang="en-US" smtClean="0"/>
              <a:t>6/16/2026</a:t>
            </a:fld>
            <a:endParaRPr lang="en-US"/>
          </a:p>
        </p:txBody>
      </p:sp>
      <p:sp>
        <p:nvSpPr>
          <p:cNvPr id="6" name="Footer Placeholder 5">
            <a:extLst>
              <a:ext uri="{FF2B5EF4-FFF2-40B4-BE49-F238E27FC236}">
                <a16:creationId xmlns:a16="http://schemas.microsoft.com/office/drawing/2014/main" id="{0A3A4F8B-2C15-1A14-E632-D4BE0014ED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BAE738-9BBB-FC16-291D-BF68E337908A}"/>
              </a:ext>
            </a:extLst>
          </p:cNvPr>
          <p:cNvSpPr>
            <a:spLocks noGrp="1"/>
          </p:cNvSpPr>
          <p:nvPr>
            <p:ph type="sldNum" sz="quarter" idx="12"/>
          </p:nvPr>
        </p:nvSpPr>
        <p:spPr/>
        <p:txBody>
          <a:bodyPr/>
          <a:lstStyle/>
          <a:p>
            <a:fld id="{538EF38D-BCE6-416B-8A66-160425705C2A}" type="slidenum">
              <a:rPr lang="en-US" smtClean="0"/>
              <a:t>‹#›</a:t>
            </a:fld>
            <a:endParaRPr lang="en-US"/>
          </a:p>
        </p:txBody>
      </p:sp>
    </p:spTree>
    <p:extLst>
      <p:ext uri="{BB962C8B-B14F-4D97-AF65-F5344CB8AC3E}">
        <p14:creationId xmlns:p14="http://schemas.microsoft.com/office/powerpoint/2010/main" val="1790855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AD544-22D6-1B52-10E2-EA2916FAF6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9B5D78-8DF0-148C-5437-674413B6F2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395A47-4333-DADC-9140-05B702A7A084}"/>
              </a:ext>
            </a:extLst>
          </p:cNvPr>
          <p:cNvSpPr>
            <a:spLocks noGrp="1"/>
          </p:cNvSpPr>
          <p:nvPr>
            <p:ph type="dt" sz="half" idx="10"/>
          </p:nvPr>
        </p:nvSpPr>
        <p:spPr/>
        <p:txBody>
          <a:bodyPr/>
          <a:lstStyle/>
          <a:p>
            <a:fld id="{5F79008F-9874-4EAA-8145-C2E917BF01AF}" type="datetimeFigureOut">
              <a:rPr lang="en-US" smtClean="0"/>
              <a:t>6/16/2026</a:t>
            </a:fld>
            <a:endParaRPr lang="en-US"/>
          </a:p>
        </p:txBody>
      </p:sp>
      <p:sp>
        <p:nvSpPr>
          <p:cNvPr id="5" name="Footer Placeholder 4">
            <a:extLst>
              <a:ext uri="{FF2B5EF4-FFF2-40B4-BE49-F238E27FC236}">
                <a16:creationId xmlns:a16="http://schemas.microsoft.com/office/drawing/2014/main" id="{9AD9BCFA-2728-A054-1180-23FEFDD74B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DAA9CE-961E-E9DA-6425-8AA4DD68EE0F}"/>
              </a:ext>
            </a:extLst>
          </p:cNvPr>
          <p:cNvSpPr>
            <a:spLocks noGrp="1"/>
          </p:cNvSpPr>
          <p:nvPr>
            <p:ph type="sldNum" sz="quarter" idx="12"/>
          </p:nvPr>
        </p:nvSpPr>
        <p:spPr/>
        <p:txBody>
          <a:bodyPr/>
          <a:lstStyle/>
          <a:p>
            <a:fld id="{538EF38D-BCE6-416B-8A66-160425705C2A}" type="slidenum">
              <a:rPr lang="en-US" smtClean="0"/>
              <a:t>‹#›</a:t>
            </a:fld>
            <a:endParaRPr lang="en-US"/>
          </a:p>
        </p:txBody>
      </p:sp>
    </p:spTree>
    <p:extLst>
      <p:ext uri="{BB962C8B-B14F-4D97-AF65-F5344CB8AC3E}">
        <p14:creationId xmlns:p14="http://schemas.microsoft.com/office/powerpoint/2010/main" val="235802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B302F8-CA9A-649E-1B6C-9C3B23D01E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635C57-9B08-C215-9494-5F527198C8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9A454D-56C2-FA12-6E01-DA62156CEE79}"/>
              </a:ext>
            </a:extLst>
          </p:cNvPr>
          <p:cNvSpPr>
            <a:spLocks noGrp="1"/>
          </p:cNvSpPr>
          <p:nvPr>
            <p:ph type="dt" sz="half" idx="10"/>
          </p:nvPr>
        </p:nvSpPr>
        <p:spPr/>
        <p:txBody>
          <a:bodyPr/>
          <a:lstStyle/>
          <a:p>
            <a:fld id="{5F79008F-9874-4EAA-8145-C2E917BF01AF}" type="datetimeFigureOut">
              <a:rPr lang="en-US" smtClean="0"/>
              <a:t>6/16/2026</a:t>
            </a:fld>
            <a:endParaRPr lang="en-US"/>
          </a:p>
        </p:txBody>
      </p:sp>
      <p:sp>
        <p:nvSpPr>
          <p:cNvPr id="5" name="Footer Placeholder 4">
            <a:extLst>
              <a:ext uri="{FF2B5EF4-FFF2-40B4-BE49-F238E27FC236}">
                <a16:creationId xmlns:a16="http://schemas.microsoft.com/office/drawing/2014/main" id="{BAF684B3-CC76-1D6E-5184-CAA1528EAA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704CF-6797-FDAD-37FD-B85AA653B1D5}"/>
              </a:ext>
            </a:extLst>
          </p:cNvPr>
          <p:cNvSpPr>
            <a:spLocks noGrp="1"/>
          </p:cNvSpPr>
          <p:nvPr>
            <p:ph type="sldNum" sz="quarter" idx="12"/>
          </p:nvPr>
        </p:nvSpPr>
        <p:spPr/>
        <p:txBody>
          <a:bodyPr/>
          <a:lstStyle/>
          <a:p>
            <a:fld id="{538EF38D-BCE6-416B-8A66-160425705C2A}" type="slidenum">
              <a:rPr lang="en-US" smtClean="0"/>
              <a:t>‹#›</a:t>
            </a:fld>
            <a:endParaRPr lang="en-US"/>
          </a:p>
        </p:txBody>
      </p:sp>
    </p:spTree>
    <p:extLst>
      <p:ext uri="{BB962C8B-B14F-4D97-AF65-F5344CB8AC3E}">
        <p14:creationId xmlns:p14="http://schemas.microsoft.com/office/powerpoint/2010/main" val="2413761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F08376-B7DE-0F94-6AA6-7A314BAEAD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6058AC-831B-37AA-2FC4-A2A679A2FD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EF166F-689B-265A-7D8D-FF1E0C7551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79008F-9874-4EAA-8145-C2E917BF01AF}" type="datetimeFigureOut">
              <a:rPr lang="en-US" smtClean="0"/>
              <a:t>6/16/2026</a:t>
            </a:fld>
            <a:endParaRPr lang="en-US"/>
          </a:p>
        </p:txBody>
      </p:sp>
      <p:sp>
        <p:nvSpPr>
          <p:cNvPr id="5" name="Footer Placeholder 4">
            <a:extLst>
              <a:ext uri="{FF2B5EF4-FFF2-40B4-BE49-F238E27FC236}">
                <a16:creationId xmlns:a16="http://schemas.microsoft.com/office/drawing/2014/main" id="{2209D2C2-B097-F9CF-14AE-058710E893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CA3B0DD-1EC6-996F-7F76-E85B1207B1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8EF38D-BCE6-416B-8A66-160425705C2A}" type="slidenum">
              <a:rPr lang="en-US" smtClean="0"/>
              <a:t>‹#›</a:t>
            </a:fld>
            <a:endParaRPr lang="en-US"/>
          </a:p>
        </p:txBody>
      </p:sp>
    </p:spTree>
    <p:extLst>
      <p:ext uri="{BB962C8B-B14F-4D97-AF65-F5344CB8AC3E}">
        <p14:creationId xmlns:p14="http://schemas.microsoft.com/office/powerpoint/2010/main" val="32904060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file+.vscode-resource.vscode-cdn.net/c%3A/dev/dgx_timeseries_lab/packages/dgx_ts_lab/src/dgx_ts_lab/models/from_scratch/" TargetMode="External"/><Relationship Id="rId7" Type="http://schemas.openxmlformats.org/officeDocument/2006/relationships/hyperlink" Target="https://file+.vscode-resource.vscode-cdn.net/c%3A/dev/dgx_timeseries_lab/packages/dgx_ts_lab/src/dgx_ts_lab/models/physics/adcs/" TargetMode="External"/><Relationship Id="rId2" Type="http://schemas.openxmlformats.org/officeDocument/2006/relationships/hyperlink" Target="https://file+.vscode-resource.vscode-cdn.net/c%3A/dev/dgx_timeseries_lab/packages/dgx_ts_lab/src/dgx_ts_lab/models/baseline/" TargetMode="External"/><Relationship Id="rId1" Type="http://schemas.openxmlformats.org/officeDocument/2006/relationships/slideLayout" Target="../slideLayouts/slideLayout2.xml"/><Relationship Id="rId6" Type="http://schemas.openxmlformats.org/officeDocument/2006/relationships/hyperlink" Target="https://file+.vscode-resource.vscode-cdn.net/c%3A/dev/dgx_timeseries_lab/packages/dgx_ts_lab/src/dgx_ts_lab/models/behavior/" TargetMode="External"/><Relationship Id="rId5" Type="http://schemas.openxmlformats.org/officeDocument/2006/relationships/hyperlink" Target="https://file+.vscode-resource.vscode-cdn.net/c%3A/dev/dgx_timeseries_lab/packages/dgx_ts_lab/src/dgx_ts_lab/models/physics/" TargetMode="External"/><Relationship Id="rId4" Type="http://schemas.openxmlformats.org/officeDocument/2006/relationships/hyperlink" Target="https://file+.vscode-resource.vscode-cdn.net/c%3A/dev/dgx_timeseries_lab/packages/dgx_ts_lab/src/dgx_ts_lab/models/founda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581AE-7992-6BCC-EA6F-AA4FEE06CA66}"/>
              </a:ext>
            </a:extLst>
          </p:cNvPr>
          <p:cNvSpPr>
            <a:spLocks noGrp="1"/>
          </p:cNvSpPr>
          <p:nvPr>
            <p:ph type="title"/>
          </p:nvPr>
        </p:nvSpPr>
        <p:spPr/>
        <p:txBody>
          <a:bodyPr>
            <a:normAutofit/>
          </a:bodyPr>
          <a:lstStyle/>
          <a:p>
            <a:r>
              <a:rPr lang="en-US" sz="2800" dirty="0"/>
              <a:t>RF Spectrograph Mode with temporal annotation (per test)</a:t>
            </a:r>
          </a:p>
        </p:txBody>
      </p:sp>
      <p:pic>
        <p:nvPicPr>
          <p:cNvPr id="11" name="Content Placeholder 10">
            <a:extLst>
              <a:ext uri="{FF2B5EF4-FFF2-40B4-BE49-F238E27FC236}">
                <a16:creationId xmlns:a16="http://schemas.microsoft.com/office/drawing/2014/main" id="{0552DDBA-F6BA-1251-1528-4398938FEEC1}"/>
              </a:ext>
            </a:extLst>
          </p:cNvPr>
          <p:cNvPicPr>
            <a:picLocks noGrp="1" noChangeAspect="1"/>
          </p:cNvPicPr>
          <p:nvPr>
            <p:ph idx="1"/>
          </p:nvPr>
        </p:nvPicPr>
        <p:blipFill>
          <a:blip r:embed="rId2"/>
          <a:stretch>
            <a:fillRect/>
          </a:stretch>
        </p:blipFill>
        <p:spPr>
          <a:xfrm>
            <a:off x="647700" y="1263670"/>
            <a:ext cx="10566400" cy="5229205"/>
          </a:xfrm>
          <a:prstGeom prst="rect">
            <a:avLst/>
          </a:prstGeom>
        </p:spPr>
      </p:pic>
    </p:spTree>
    <p:extLst>
      <p:ext uri="{BB962C8B-B14F-4D97-AF65-F5344CB8AC3E}">
        <p14:creationId xmlns:p14="http://schemas.microsoft.com/office/powerpoint/2010/main" val="2129087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EE577-FE5B-F6F8-1554-15DE1231A918}"/>
              </a:ext>
            </a:extLst>
          </p:cNvPr>
          <p:cNvSpPr>
            <a:spLocks noGrp="1"/>
          </p:cNvSpPr>
          <p:nvPr>
            <p:ph type="title"/>
          </p:nvPr>
        </p:nvSpPr>
        <p:spPr/>
        <p:txBody>
          <a:bodyPr/>
          <a:lstStyle/>
          <a:p>
            <a:r>
              <a:rPr lang="en-US" dirty="0"/>
              <a:t>Spectrum Mode</a:t>
            </a:r>
          </a:p>
        </p:txBody>
      </p:sp>
      <p:pic>
        <p:nvPicPr>
          <p:cNvPr id="5" name="Content Placeholder 4">
            <a:extLst>
              <a:ext uri="{FF2B5EF4-FFF2-40B4-BE49-F238E27FC236}">
                <a16:creationId xmlns:a16="http://schemas.microsoft.com/office/drawing/2014/main" id="{B8E822C4-66C8-E281-3F0F-35828471468B}"/>
              </a:ext>
            </a:extLst>
          </p:cNvPr>
          <p:cNvPicPr>
            <a:picLocks noGrp="1" noChangeAspect="1"/>
          </p:cNvPicPr>
          <p:nvPr>
            <p:ph idx="1"/>
          </p:nvPr>
        </p:nvPicPr>
        <p:blipFill>
          <a:blip r:embed="rId2"/>
          <a:stretch>
            <a:fillRect/>
          </a:stretch>
        </p:blipFill>
        <p:spPr>
          <a:xfrm>
            <a:off x="1694428" y="1825625"/>
            <a:ext cx="8803144" cy="4351338"/>
          </a:xfrm>
          <a:prstGeom prst="rect">
            <a:avLst/>
          </a:prstGeom>
        </p:spPr>
      </p:pic>
    </p:spTree>
    <p:extLst>
      <p:ext uri="{BB962C8B-B14F-4D97-AF65-F5344CB8AC3E}">
        <p14:creationId xmlns:p14="http://schemas.microsoft.com/office/powerpoint/2010/main" val="1708730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422CD-308F-90B6-2DDA-4CF49EAC5712}"/>
              </a:ext>
            </a:extLst>
          </p:cNvPr>
          <p:cNvSpPr>
            <a:spLocks noGrp="1"/>
          </p:cNvSpPr>
          <p:nvPr>
            <p:ph type="title"/>
          </p:nvPr>
        </p:nvSpPr>
        <p:spPr/>
        <p:txBody>
          <a:bodyPr>
            <a:normAutofit/>
          </a:bodyPr>
          <a:lstStyle/>
          <a:p>
            <a:r>
              <a:rPr lang="en-US" sz="2800" dirty="0"/>
              <a:t>Multi-View of Telemetry in Spectrum Model, with </a:t>
            </a:r>
            <a:r>
              <a:rPr lang="en-US" sz="2800" dirty="0" err="1"/>
              <a:t>freq</a:t>
            </a:r>
            <a:r>
              <a:rPr lang="en-US" sz="2800" dirty="0"/>
              <a:t>-annotation</a:t>
            </a:r>
          </a:p>
        </p:txBody>
      </p:sp>
      <p:pic>
        <p:nvPicPr>
          <p:cNvPr id="5" name="Content Placeholder 4">
            <a:extLst>
              <a:ext uri="{FF2B5EF4-FFF2-40B4-BE49-F238E27FC236}">
                <a16:creationId xmlns:a16="http://schemas.microsoft.com/office/drawing/2014/main" id="{86617D14-21CC-AC07-463B-403B7D6F04AE}"/>
              </a:ext>
            </a:extLst>
          </p:cNvPr>
          <p:cNvPicPr>
            <a:picLocks noGrp="1" noChangeAspect="1"/>
          </p:cNvPicPr>
          <p:nvPr>
            <p:ph idx="1"/>
          </p:nvPr>
        </p:nvPicPr>
        <p:blipFill>
          <a:blip r:embed="rId2"/>
          <a:stretch>
            <a:fillRect/>
          </a:stretch>
        </p:blipFill>
        <p:spPr>
          <a:xfrm>
            <a:off x="1733550" y="1607230"/>
            <a:ext cx="9550637" cy="4728483"/>
          </a:xfrm>
          <a:prstGeom prst="rect">
            <a:avLst/>
          </a:prstGeom>
        </p:spPr>
      </p:pic>
    </p:spTree>
    <p:extLst>
      <p:ext uri="{BB962C8B-B14F-4D97-AF65-F5344CB8AC3E}">
        <p14:creationId xmlns:p14="http://schemas.microsoft.com/office/powerpoint/2010/main" val="1510386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1FCE7-9E99-5BB2-B871-43FB646CFF75}"/>
              </a:ext>
            </a:extLst>
          </p:cNvPr>
          <p:cNvSpPr>
            <a:spLocks noGrp="1"/>
          </p:cNvSpPr>
          <p:nvPr>
            <p:ph type="title"/>
          </p:nvPr>
        </p:nvSpPr>
        <p:spPr/>
        <p:txBody>
          <a:bodyPr/>
          <a:lstStyle/>
          <a:p>
            <a:r>
              <a:rPr lang="en-US" dirty="0"/>
              <a:t>(U) Tier 1 Model UI</a:t>
            </a:r>
          </a:p>
        </p:txBody>
      </p:sp>
      <p:pic>
        <p:nvPicPr>
          <p:cNvPr id="5" name="Content Placeholder 4">
            <a:extLst>
              <a:ext uri="{FF2B5EF4-FFF2-40B4-BE49-F238E27FC236}">
                <a16:creationId xmlns:a16="http://schemas.microsoft.com/office/drawing/2014/main" id="{CE7ACF4D-8B42-DC05-7414-FC8C49F7E4B2}"/>
              </a:ext>
            </a:extLst>
          </p:cNvPr>
          <p:cNvPicPr>
            <a:picLocks noGrp="1" noChangeAspect="1"/>
          </p:cNvPicPr>
          <p:nvPr>
            <p:ph idx="1"/>
          </p:nvPr>
        </p:nvPicPr>
        <p:blipFill>
          <a:blip r:embed="rId2"/>
          <a:stretch>
            <a:fillRect/>
          </a:stretch>
        </p:blipFill>
        <p:spPr>
          <a:xfrm>
            <a:off x="2912216" y="1587645"/>
            <a:ext cx="4435370" cy="4681096"/>
          </a:xfrm>
          <a:prstGeom prst="rect">
            <a:avLst/>
          </a:prstGeom>
        </p:spPr>
      </p:pic>
      <p:pic>
        <p:nvPicPr>
          <p:cNvPr id="7" name="Picture 6">
            <a:extLst>
              <a:ext uri="{FF2B5EF4-FFF2-40B4-BE49-F238E27FC236}">
                <a16:creationId xmlns:a16="http://schemas.microsoft.com/office/drawing/2014/main" id="{EA97EC21-36AE-2B99-F039-A6A62840B324}"/>
              </a:ext>
            </a:extLst>
          </p:cNvPr>
          <p:cNvPicPr>
            <a:picLocks noChangeAspect="1"/>
          </p:cNvPicPr>
          <p:nvPr/>
        </p:nvPicPr>
        <p:blipFill>
          <a:blip r:embed="rId3"/>
          <a:stretch>
            <a:fillRect/>
          </a:stretch>
        </p:blipFill>
        <p:spPr>
          <a:xfrm>
            <a:off x="7476756" y="4146125"/>
            <a:ext cx="4435370" cy="2043628"/>
          </a:xfrm>
          <a:prstGeom prst="rect">
            <a:avLst/>
          </a:prstGeom>
        </p:spPr>
      </p:pic>
      <p:pic>
        <p:nvPicPr>
          <p:cNvPr id="9" name="Picture 8">
            <a:extLst>
              <a:ext uri="{FF2B5EF4-FFF2-40B4-BE49-F238E27FC236}">
                <a16:creationId xmlns:a16="http://schemas.microsoft.com/office/drawing/2014/main" id="{F91D623B-638C-BA6D-5377-BCE067E91E2C}"/>
              </a:ext>
            </a:extLst>
          </p:cNvPr>
          <p:cNvPicPr>
            <a:picLocks noChangeAspect="1"/>
          </p:cNvPicPr>
          <p:nvPr/>
        </p:nvPicPr>
        <p:blipFill>
          <a:blip r:embed="rId4"/>
          <a:srcRect b="46277"/>
          <a:stretch>
            <a:fillRect/>
          </a:stretch>
        </p:blipFill>
        <p:spPr>
          <a:xfrm>
            <a:off x="7476756" y="1587645"/>
            <a:ext cx="4444372" cy="2409320"/>
          </a:xfrm>
          <a:prstGeom prst="rect">
            <a:avLst/>
          </a:prstGeom>
        </p:spPr>
      </p:pic>
      <p:sp>
        <p:nvSpPr>
          <p:cNvPr id="10" name="TextBox 9">
            <a:extLst>
              <a:ext uri="{FF2B5EF4-FFF2-40B4-BE49-F238E27FC236}">
                <a16:creationId xmlns:a16="http://schemas.microsoft.com/office/drawing/2014/main" id="{72B7662A-DBE5-01B8-9BE2-BEC5336502F0}"/>
              </a:ext>
            </a:extLst>
          </p:cNvPr>
          <p:cNvSpPr txBox="1"/>
          <p:nvPr/>
        </p:nvSpPr>
        <p:spPr>
          <a:xfrm>
            <a:off x="393700" y="1595583"/>
            <a:ext cx="2393950" cy="1323439"/>
          </a:xfrm>
          <a:prstGeom prst="rect">
            <a:avLst/>
          </a:prstGeom>
          <a:noFill/>
        </p:spPr>
        <p:txBody>
          <a:bodyPr wrap="square" rtlCol="0">
            <a:spAutoFit/>
          </a:bodyPr>
          <a:lstStyle/>
          <a:p>
            <a:r>
              <a:rPr lang="en-US" sz="1600" dirty="0"/>
              <a:t>(U) Screen samples from new UI/UX to create, manage, and review broad-coverage Tier-1 models</a:t>
            </a:r>
          </a:p>
        </p:txBody>
      </p:sp>
    </p:spTree>
    <p:extLst>
      <p:ext uri="{BB962C8B-B14F-4D97-AF65-F5344CB8AC3E}">
        <p14:creationId xmlns:p14="http://schemas.microsoft.com/office/powerpoint/2010/main" val="900594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5A31A-BDDE-7ED2-EB3E-CA9D562447E0}"/>
              </a:ext>
            </a:extLst>
          </p:cNvPr>
          <p:cNvSpPr>
            <a:spLocks noGrp="1"/>
          </p:cNvSpPr>
          <p:nvPr>
            <p:ph type="title"/>
          </p:nvPr>
        </p:nvSpPr>
        <p:spPr/>
        <p:txBody>
          <a:bodyPr>
            <a:normAutofit/>
          </a:bodyPr>
          <a:lstStyle/>
          <a:p>
            <a:r>
              <a:rPr lang="en-US" sz="2800" dirty="0"/>
              <a:t>(U) Advanced Anomaly Detector Algorithms (Factory DGX; in-progress)</a:t>
            </a:r>
          </a:p>
        </p:txBody>
      </p:sp>
      <p:graphicFrame>
        <p:nvGraphicFramePr>
          <p:cNvPr id="4" name="Content Placeholder 3">
            <a:extLst>
              <a:ext uri="{FF2B5EF4-FFF2-40B4-BE49-F238E27FC236}">
                <a16:creationId xmlns:a16="http://schemas.microsoft.com/office/drawing/2014/main" id="{DD207962-4C86-F322-768F-3885DFAAE9C9}"/>
              </a:ext>
            </a:extLst>
          </p:cNvPr>
          <p:cNvGraphicFramePr>
            <a:graphicFrameLocks noGrp="1"/>
          </p:cNvGraphicFramePr>
          <p:nvPr>
            <p:ph idx="1"/>
            <p:extLst>
              <p:ext uri="{D42A27DB-BD31-4B8C-83A1-F6EECF244321}">
                <p14:modId xmlns:p14="http://schemas.microsoft.com/office/powerpoint/2010/main" val="1526557293"/>
              </p:ext>
            </p:extLst>
          </p:nvPr>
        </p:nvGraphicFramePr>
        <p:xfrm>
          <a:off x="722191" y="1393845"/>
          <a:ext cx="10905699" cy="4421921"/>
        </p:xfrm>
        <a:graphic>
          <a:graphicData uri="http://schemas.openxmlformats.org/drawingml/2006/table">
            <a:tbl>
              <a:tblPr/>
              <a:tblGrid>
                <a:gridCol w="1640009">
                  <a:extLst>
                    <a:ext uri="{9D8B030D-6E8A-4147-A177-3AD203B41FA5}">
                      <a16:colId xmlns:a16="http://schemas.microsoft.com/office/drawing/2014/main" val="4222024550"/>
                    </a:ext>
                  </a:extLst>
                </a:gridCol>
                <a:gridCol w="1475905">
                  <a:extLst>
                    <a:ext uri="{9D8B030D-6E8A-4147-A177-3AD203B41FA5}">
                      <a16:colId xmlns:a16="http://schemas.microsoft.com/office/drawing/2014/main" val="244870608"/>
                    </a:ext>
                  </a:extLst>
                </a:gridCol>
                <a:gridCol w="1895945">
                  <a:extLst>
                    <a:ext uri="{9D8B030D-6E8A-4147-A177-3AD203B41FA5}">
                      <a16:colId xmlns:a16="http://schemas.microsoft.com/office/drawing/2014/main" val="1915807240"/>
                    </a:ext>
                  </a:extLst>
                </a:gridCol>
                <a:gridCol w="923925">
                  <a:extLst>
                    <a:ext uri="{9D8B030D-6E8A-4147-A177-3AD203B41FA5}">
                      <a16:colId xmlns:a16="http://schemas.microsoft.com/office/drawing/2014/main" val="432208422"/>
                    </a:ext>
                  </a:extLst>
                </a:gridCol>
                <a:gridCol w="1854001">
                  <a:extLst>
                    <a:ext uri="{9D8B030D-6E8A-4147-A177-3AD203B41FA5}">
                      <a16:colId xmlns:a16="http://schemas.microsoft.com/office/drawing/2014/main" val="875955438"/>
                    </a:ext>
                  </a:extLst>
                </a:gridCol>
                <a:gridCol w="1557957">
                  <a:extLst>
                    <a:ext uri="{9D8B030D-6E8A-4147-A177-3AD203B41FA5}">
                      <a16:colId xmlns:a16="http://schemas.microsoft.com/office/drawing/2014/main" val="868016813"/>
                    </a:ext>
                  </a:extLst>
                </a:gridCol>
                <a:gridCol w="1557957">
                  <a:extLst>
                    <a:ext uri="{9D8B030D-6E8A-4147-A177-3AD203B41FA5}">
                      <a16:colId xmlns:a16="http://schemas.microsoft.com/office/drawing/2014/main" val="1590591601"/>
                    </a:ext>
                  </a:extLst>
                </a:gridCol>
              </a:tblGrid>
              <a:tr h="131791">
                <a:tc>
                  <a:txBody>
                    <a:bodyPr/>
                    <a:lstStyle/>
                    <a:p>
                      <a:pPr algn="ctr">
                        <a:buNone/>
                      </a:pPr>
                      <a:r>
                        <a:rPr lang="en-US" sz="800" b="1" dirty="0">
                          <a:effectLst/>
                        </a:rPr>
                        <a:t>Detector</a:t>
                      </a:r>
                    </a:p>
                  </a:txBody>
                  <a:tcPr marL="19394" marR="19394" marT="9697" marB="9697" anchor="ctr">
                    <a:lnL>
                      <a:noFill/>
                    </a:lnL>
                    <a:lnR>
                      <a:noFill/>
                    </a:lnR>
                    <a:lnT>
                      <a:noFill/>
                    </a:lnT>
                    <a:lnB>
                      <a:noFill/>
                    </a:lnB>
                    <a:solidFill>
                      <a:schemeClr val="bg1">
                        <a:lumMod val="85000"/>
                      </a:schemeClr>
                    </a:solidFill>
                  </a:tcPr>
                </a:tc>
                <a:tc>
                  <a:txBody>
                    <a:bodyPr/>
                    <a:lstStyle/>
                    <a:p>
                      <a:pPr algn="ctr">
                        <a:buNone/>
                      </a:pPr>
                      <a:r>
                        <a:rPr lang="en-US" sz="800" b="1">
                          <a:effectLst/>
                        </a:rPr>
                        <a:t>Registry key</a:t>
                      </a:r>
                    </a:p>
                  </a:txBody>
                  <a:tcPr marL="19394" marR="19394" marT="9697" marB="9697" anchor="ctr">
                    <a:lnL>
                      <a:noFill/>
                    </a:lnL>
                    <a:lnR>
                      <a:noFill/>
                    </a:lnR>
                    <a:lnT>
                      <a:noFill/>
                    </a:lnT>
                    <a:lnB>
                      <a:noFill/>
                    </a:lnB>
                    <a:solidFill>
                      <a:schemeClr val="bg1">
                        <a:lumMod val="85000"/>
                      </a:schemeClr>
                    </a:solidFill>
                  </a:tcPr>
                </a:tc>
                <a:tc>
                  <a:txBody>
                    <a:bodyPr/>
                    <a:lstStyle/>
                    <a:p>
                      <a:pPr algn="ctr">
                        <a:buNone/>
                      </a:pPr>
                      <a:r>
                        <a:rPr lang="en-US" sz="800" b="1">
                          <a:effectLst/>
                        </a:rPr>
                        <a:t>Algorithm family</a:t>
                      </a:r>
                    </a:p>
                  </a:txBody>
                  <a:tcPr marL="19394" marR="19394" marT="9697" marB="9697" anchor="ctr">
                    <a:lnL>
                      <a:noFill/>
                    </a:lnL>
                    <a:lnR>
                      <a:noFill/>
                    </a:lnR>
                    <a:lnT>
                      <a:noFill/>
                    </a:lnT>
                    <a:lnB>
                      <a:noFill/>
                    </a:lnB>
                    <a:solidFill>
                      <a:schemeClr val="bg1">
                        <a:lumMod val="85000"/>
                      </a:schemeClr>
                    </a:solidFill>
                  </a:tcPr>
                </a:tc>
                <a:tc>
                  <a:txBody>
                    <a:bodyPr/>
                    <a:lstStyle/>
                    <a:p>
                      <a:pPr algn="ctr">
                        <a:buNone/>
                      </a:pPr>
                      <a:r>
                        <a:rPr lang="en-US" sz="800" b="1">
                          <a:effectLst/>
                        </a:rPr>
                        <a:t>Intro'd</a:t>
                      </a:r>
                    </a:p>
                  </a:txBody>
                  <a:tcPr marL="19394" marR="19394" marT="9697" marB="9697" anchor="ctr">
                    <a:lnL>
                      <a:noFill/>
                    </a:lnL>
                    <a:lnR>
                      <a:noFill/>
                    </a:lnR>
                    <a:lnT>
                      <a:noFill/>
                    </a:lnT>
                    <a:lnB>
                      <a:noFill/>
                    </a:lnB>
                    <a:solidFill>
                      <a:schemeClr val="bg1">
                        <a:lumMod val="85000"/>
                      </a:schemeClr>
                    </a:solidFill>
                  </a:tcPr>
                </a:tc>
                <a:tc>
                  <a:txBody>
                    <a:bodyPr/>
                    <a:lstStyle/>
                    <a:p>
                      <a:pPr algn="ctr">
                        <a:buNone/>
                      </a:pPr>
                      <a:r>
                        <a:rPr lang="en-US" sz="800" b="1">
                          <a:effectLst/>
                        </a:rPr>
                        <a:t>Realistic tier</a:t>
                      </a:r>
                    </a:p>
                  </a:txBody>
                  <a:tcPr marL="19394" marR="19394" marT="9697" marB="9697" anchor="ctr">
                    <a:lnL>
                      <a:noFill/>
                    </a:lnL>
                    <a:lnR>
                      <a:noFill/>
                    </a:lnR>
                    <a:lnT>
                      <a:noFill/>
                    </a:lnT>
                    <a:lnB>
                      <a:noFill/>
                    </a:lnB>
                    <a:solidFill>
                      <a:schemeClr val="bg1">
                        <a:lumMod val="85000"/>
                      </a:schemeClr>
                    </a:solidFill>
                  </a:tcPr>
                </a:tc>
                <a:tc>
                  <a:txBody>
                    <a:bodyPr/>
                    <a:lstStyle/>
                    <a:p>
                      <a:pPr algn="ctr">
                        <a:buNone/>
                      </a:pPr>
                      <a:r>
                        <a:rPr lang="en-US" sz="800" b="1">
                          <a:effectLst/>
                        </a:rPr>
                        <a:t>Multivariate</a:t>
                      </a:r>
                    </a:p>
                  </a:txBody>
                  <a:tcPr marL="19394" marR="19394" marT="9697" marB="9697" anchor="ctr">
                    <a:lnL>
                      <a:noFill/>
                    </a:lnL>
                    <a:lnR>
                      <a:noFill/>
                    </a:lnR>
                    <a:lnT>
                      <a:noFill/>
                    </a:lnT>
                    <a:lnB>
                      <a:noFill/>
                    </a:lnB>
                    <a:solidFill>
                      <a:schemeClr val="bg1">
                        <a:lumMod val="85000"/>
                      </a:schemeClr>
                    </a:solidFill>
                  </a:tcPr>
                </a:tc>
                <a:tc>
                  <a:txBody>
                    <a:bodyPr/>
                    <a:lstStyle/>
                    <a:p>
                      <a:pPr algn="ctr">
                        <a:buNone/>
                      </a:pPr>
                      <a:r>
                        <a:rPr lang="en-US" sz="800" b="1" dirty="0">
                          <a:effectLst/>
                        </a:rPr>
                        <a:t>Per-step scores</a:t>
                      </a:r>
                    </a:p>
                  </a:txBody>
                  <a:tcPr marL="19394" marR="19394" marT="9697" marB="9697" anchor="ctr">
                    <a:lnL>
                      <a:noFill/>
                    </a:lnL>
                    <a:lnR>
                      <a:noFill/>
                    </a:lnR>
                    <a:lnT>
                      <a:noFill/>
                    </a:lnT>
                    <a:lnB>
                      <a:noFill/>
                    </a:lnB>
                    <a:solidFill>
                      <a:schemeClr val="bg1">
                        <a:lumMod val="85000"/>
                      </a:schemeClr>
                    </a:solidFill>
                  </a:tcPr>
                </a:tc>
                <a:extLst>
                  <a:ext uri="{0D108BD9-81ED-4DB2-BD59-A6C34878D82A}">
                    <a16:rowId xmlns:a16="http://schemas.microsoft.com/office/drawing/2014/main" val="1633212389"/>
                  </a:ext>
                </a:extLst>
              </a:tr>
              <a:tr h="187940">
                <a:tc>
                  <a:txBody>
                    <a:bodyPr/>
                    <a:lstStyle/>
                    <a:p>
                      <a:pPr>
                        <a:buNone/>
                      </a:pPr>
                      <a:r>
                        <a:rPr lang="en-US" sz="800" b="1" u="none" strike="noStrike">
                          <a:solidFill>
                            <a:srgbClr val="48A0C7"/>
                          </a:solidFill>
                          <a:effectLst/>
                          <a:latin typeface="Consolas" panose="020B0609020204030204" pitchFamily="49" charset="0"/>
                          <a:hlinkClick r:id="rId2"/>
                        </a:rPr>
                        <a:t>RollingMeanDetector</a:t>
                      </a:r>
                      <a:endParaRPr lang="en-US" sz="800" b="1">
                        <a:effectLst/>
                      </a:endParaRPr>
                    </a:p>
                  </a:txBody>
                  <a:tcPr marL="19394" marR="19394" marT="9697" marB="9697" anchor="ctr">
                    <a:lnL>
                      <a:noFill/>
                    </a:lnL>
                    <a:lnR>
                      <a:noFill/>
                    </a:lnR>
                    <a:lnT>
                      <a:noFill/>
                    </a:lnT>
                    <a:lnB>
                      <a:noFill/>
                    </a:lnB>
                    <a:noFill/>
                  </a:tcPr>
                </a:tc>
                <a:tc>
                  <a:txBody>
                    <a:bodyPr/>
                    <a:lstStyle/>
                    <a:p>
                      <a:pPr>
                        <a:buNone/>
                      </a:pPr>
                      <a:r>
                        <a:rPr lang="en-US" sz="800">
                          <a:solidFill>
                            <a:srgbClr val="8C8C8C"/>
                          </a:solidFill>
                          <a:effectLst/>
                          <a:latin typeface="Consolas" panose="020B0609020204030204" pitchFamily="49" charset="0"/>
                        </a:rPr>
                        <a:t>rolling_mean</a:t>
                      </a:r>
                      <a:endParaRPr lang="en-US" sz="800">
                        <a:effectLst/>
                      </a:endParaRPr>
                    </a:p>
                  </a:txBody>
                  <a:tcPr marL="19394" marR="19394" marT="9697" marB="9697" anchor="ctr">
                    <a:lnL>
                      <a:noFill/>
                    </a:lnL>
                    <a:lnR>
                      <a:noFill/>
                    </a:lnR>
                    <a:lnT>
                      <a:noFill/>
                    </a:lnT>
                    <a:lnB>
                      <a:noFill/>
                    </a:lnB>
                    <a:noFill/>
                  </a:tcPr>
                </a:tc>
                <a:tc>
                  <a:txBody>
                    <a:bodyPr/>
                    <a:lstStyle/>
                    <a:p>
                      <a:pPr>
                        <a:buNone/>
                      </a:pPr>
                      <a:r>
                        <a:rPr lang="en-US" sz="800">
                          <a:effectLst/>
                        </a:rPr>
                        <a:t>Classical residual (z-score)</a:t>
                      </a:r>
                    </a:p>
                  </a:txBody>
                  <a:tcPr marL="19394" marR="19394" marT="9697" marB="9697" anchor="ctr">
                    <a:lnL>
                      <a:noFill/>
                    </a:lnL>
                    <a:lnR>
                      <a:noFill/>
                    </a:lnR>
                    <a:lnT>
                      <a:noFill/>
                    </a:lnT>
                    <a:lnB>
                      <a:noFill/>
                    </a:lnB>
                    <a:noFill/>
                  </a:tcPr>
                </a:tc>
                <a:tc>
                  <a:txBody>
                    <a:bodyPr/>
                    <a:lstStyle/>
                    <a:p>
                      <a:pPr>
                        <a:buNone/>
                      </a:pPr>
                      <a:r>
                        <a:rPr lang="en-US" sz="800">
                          <a:effectLst/>
                        </a:rPr>
                        <a:t>Phase 0</a:t>
                      </a:r>
                    </a:p>
                  </a:txBody>
                  <a:tcPr marL="19394" marR="19394" marT="9697" marB="9697" anchor="ctr">
                    <a:lnL>
                      <a:noFill/>
                    </a:lnL>
                    <a:lnR>
                      <a:noFill/>
                    </a:lnR>
                    <a:lnT>
                      <a:noFill/>
                    </a:lnT>
                    <a:lnB>
                      <a:noFill/>
                    </a:lnB>
                    <a:noFill/>
                  </a:tcPr>
                </a:tc>
                <a:tc>
                  <a:txBody>
                    <a:bodyPr/>
                    <a:lstStyle/>
                    <a:p>
                      <a:pPr>
                        <a:buNone/>
                      </a:pPr>
                      <a:r>
                        <a:rPr lang="en-US" sz="800">
                          <a:effectLst/>
                        </a:rPr>
                        <a:t>CPU</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extLst>
                  <a:ext uri="{0D108BD9-81ED-4DB2-BD59-A6C34878D82A}">
                    <a16:rowId xmlns:a16="http://schemas.microsoft.com/office/drawing/2014/main" val="3719057381"/>
                  </a:ext>
                </a:extLst>
              </a:tr>
              <a:tr h="300238">
                <a:tc>
                  <a:txBody>
                    <a:bodyPr/>
                    <a:lstStyle/>
                    <a:p>
                      <a:pPr>
                        <a:buNone/>
                      </a:pPr>
                      <a:r>
                        <a:rPr lang="en-US" sz="800" b="1" u="none" strike="noStrike">
                          <a:solidFill>
                            <a:srgbClr val="48A0C7"/>
                          </a:solidFill>
                          <a:effectLst/>
                          <a:latin typeface="Consolas" panose="020B0609020204030204" pitchFamily="49" charset="0"/>
                          <a:hlinkClick r:id="rId3"/>
                        </a:rPr>
                        <a:t>PatchTSTMAEDetector</a:t>
                      </a:r>
                      <a:endParaRPr lang="en-US" sz="800" b="1">
                        <a:effectLst/>
                      </a:endParaRPr>
                    </a:p>
                  </a:txBody>
                  <a:tcPr marL="19394" marR="19394" marT="9697" marB="9697" anchor="ctr">
                    <a:lnL>
                      <a:noFill/>
                    </a:lnL>
                    <a:lnR>
                      <a:noFill/>
                    </a:lnR>
                    <a:lnT>
                      <a:noFill/>
                    </a:lnT>
                    <a:lnB>
                      <a:noFill/>
                    </a:lnB>
                    <a:noFill/>
                  </a:tcPr>
                </a:tc>
                <a:tc>
                  <a:txBody>
                    <a:bodyPr/>
                    <a:lstStyle/>
                    <a:p>
                      <a:pPr>
                        <a:buNone/>
                      </a:pPr>
                      <a:r>
                        <a:rPr lang="en-US" sz="800" dirty="0" err="1">
                          <a:solidFill>
                            <a:srgbClr val="8C8C8C"/>
                          </a:solidFill>
                          <a:effectLst/>
                          <a:latin typeface="Consolas" panose="020B0609020204030204" pitchFamily="49" charset="0"/>
                        </a:rPr>
                        <a:t>patchtst_mae</a:t>
                      </a:r>
                      <a:endParaRPr lang="en-US" sz="800" dirty="0">
                        <a:effectLst/>
                      </a:endParaRPr>
                    </a:p>
                  </a:txBody>
                  <a:tcPr marL="19394" marR="19394" marT="9697" marB="9697" anchor="ctr">
                    <a:lnL>
                      <a:noFill/>
                    </a:lnL>
                    <a:lnR>
                      <a:noFill/>
                    </a:lnR>
                    <a:lnT>
                      <a:noFill/>
                    </a:lnT>
                    <a:lnB>
                      <a:noFill/>
                    </a:lnB>
                    <a:noFill/>
                  </a:tcPr>
                </a:tc>
                <a:tc>
                  <a:txBody>
                    <a:bodyPr/>
                    <a:lstStyle/>
                    <a:p>
                      <a:pPr>
                        <a:buNone/>
                      </a:pPr>
                      <a:r>
                        <a:rPr lang="en-US" sz="800">
                          <a:effectLst/>
                        </a:rPr>
                        <a:t>Channel-independent patch transformer + MAE</a:t>
                      </a:r>
                    </a:p>
                  </a:txBody>
                  <a:tcPr marL="19394" marR="19394" marT="9697" marB="9697" anchor="ctr">
                    <a:lnL>
                      <a:noFill/>
                    </a:lnL>
                    <a:lnR>
                      <a:noFill/>
                    </a:lnR>
                    <a:lnT>
                      <a:noFill/>
                    </a:lnT>
                    <a:lnB>
                      <a:noFill/>
                    </a:lnB>
                    <a:noFill/>
                  </a:tcPr>
                </a:tc>
                <a:tc>
                  <a:txBody>
                    <a:bodyPr/>
                    <a:lstStyle/>
                    <a:p>
                      <a:pPr>
                        <a:buNone/>
                      </a:pPr>
                      <a:r>
                        <a:rPr lang="en-US" sz="800">
                          <a:effectLst/>
                        </a:rPr>
                        <a:t>Phase 2</a:t>
                      </a:r>
                    </a:p>
                  </a:txBody>
                  <a:tcPr marL="19394" marR="19394" marT="9697" marB="9697" anchor="ctr">
                    <a:lnL>
                      <a:noFill/>
                    </a:lnL>
                    <a:lnR>
                      <a:noFill/>
                    </a:lnR>
                    <a:lnT>
                      <a:noFill/>
                    </a:lnT>
                    <a:lnB>
                      <a:noFill/>
                    </a:lnB>
                    <a:noFill/>
                  </a:tcPr>
                </a:tc>
                <a:tc>
                  <a:txBody>
                    <a:bodyPr/>
                    <a:lstStyle/>
                    <a:p>
                      <a:pPr>
                        <a:buNone/>
                      </a:pPr>
                      <a:r>
                        <a:rPr lang="en-US" sz="800">
                          <a:effectLst/>
                        </a:rPr>
                        <a:t>3080 / A5000 / H200</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extLst>
                  <a:ext uri="{0D108BD9-81ED-4DB2-BD59-A6C34878D82A}">
                    <a16:rowId xmlns:a16="http://schemas.microsoft.com/office/drawing/2014/main" val="1633514305"/>
                  </a:ext>
                </a:extLst>
              </a:tr>
              <a:tr h="244089">
                <a:tc>
                  <a:txBody>
                    <a:bodyPr/>
                    <a:lstStyle/>
                    <a:p>
                      <a:pPr>
                        <a:buNone/>
                      </a:pPr>
                      <a:r>
                        <a:rPr lang="en-US" sz="800" b="1" u="none" strike="noStrike" dirty="0" err="1">
                          <a:solidFill>
                            <a:srgbClr val="48A0C7"/>
                          </a:solidFill>
                          <a:effectLst/>
                          <a:latin typeface="Consolas" panose="020B0609020204030204" pitchFamily="49" charset="0"/>
                          <a:hlinkClick r:id="rId3"/>
                        </a:rPr>
                        <a:t>AnomalyTransformerDetector</a:t>
                      </a:r>
                      <a:endParaRPr lang="en-US" sz="800" b="1" dirty="0">
                        <a:effectLst/>
                      </a:endParaRPr>
                    </a:p>
                  </a:txBody>
                  <a:tcPr marL="19394" marR="19394" marT="9697" marB="9697" anchor="ctr">
                    <a:lnL>
                      <a:noFill/>
                    </a:lnL>
                    <a:lnR>
                      <a:noFill/>
                    </a:lnR>
                    <a:lnT>
                      <a:noFill/>
                    </a:lnT>
                    <a:lnB>
                      <a:noFill/>
                    </a:lnB>
                    <a:noFill/>
                  </a:tcPr>
                </a:tc>
                <a:tc>
                  <a:txBody>
                    <a:bodyPr/>
                    <a:lstStyle/>
                    <a:p>
                      <a:pPr>
                        <a:buNone/>
                      </a:pPr>
                      <a:r>
                        <a:rPr lang="en-US" sz="800">
                          <a:solidFill>
                            <a:srgbClr val="8C8C8C"/>
                          </a:solidFill>
                          <a:effectLst/>
                          <a:latin typeface="Consolas" panose="020B0609020204030204" pitchFamily="49" charset="0"/>
                        </a:rPr>
                        <a:t>anomaly_transformer</a:t>
                      </a:r>
                      <a:endParaRPr lang="en-US" sz="800">
                        <a:effectLst/>
                      </a:endParaRPr>
                    </a:p>
                  </a:txBody>
                  <a:tcPr marL="19394" marR="19394" marT="9697" marB="9697" anchor="ctr">
                    <a:lnL>
                      <a:noFill/>
                    </a:lnL>
                    <a:lnR>
                      <a:noFill/>
                    </a:lnR>
                    <a:lnT>
                      <a:noFill/>
                    </a:lnT>
                    <a:lnB>
                      <a:noFill/>
                    </a:lnB>
                    <a:noFill/>
                  </a:tcPr>
                </a:tc>
                <a:tc>
                  <a:txBody>
                    <a:bodyPr/>
                    <a:lstStyle/>
                    <a:p>
                      <a:pPr>
                        <a:buNone/>
                      </a:pPr>
                      <a:r>
                        <a:rPr lang="en-US" sz="800">
                          <a:effectLst/>
                        </a:rPr>
                        <a:t>Prior-vs-series association (KL)</a:t>
                      </a:r>
                    </a:p>
                  </a:txBody>
                  <a:tcPr marL="19394" marR="19394" marT="9697" marB="9697" anchor="ctr">
                    <a:lnL>
                      <a:noFill/>
                    </a:lnL>
                    <a:lnR>
                      <a:noFill/>
                    </a:lnR>
                    <a:lnT>
                      <a:noFill/>
                    </a:lnT>
                    <a:lnB>
                      <a:noFill/>
                    </a:lnB>
                    <a:noFill/>
                  </a:tcPr>
                </a:tc>
                <a:tc>
                  <a:txBody>
                    <a:bodyPr/>
                    <a:lstStyle/>
                    <a:p>
                      <a:pPr>
                        <a:buNone/>
                      </a:pPr>
                      <a:r>
                        <a:rPr lang="en-US" sz="800">
                          <a:effectLst/>
                        </a:rPr>
                        <a:t>Phase 2</a:t>
                      </a:r>
                    </a:p>
                  </a:txBody>
                  <a:tcPr marL="19394" marR="19394" marT="9697" marB="9697" anchor="ctr">
                    <a:lnL>
                      <a:noFill/>
                    </a:lnL>
                    <a:lnR>
                      <a:noFill/>
                    </a:lnR>
                    <a:lnT>
                      <a:noFill/>
                    </a:lnT>
                    <a:lnB>
                      <a:noFill/>
                    </a:lnB>
                    <a:noFill/>
                  </a:tcPr>
                </a:tc>
                <a:tc>
                  <a:txBody>
                    <a:bodyPr/>
                    <a:lstStyle/>
                    <a:p>
                      <a:pPr>
                        <a:buNone/>
                      </a:pPr>
                      <a:r>
                        <a:rPr lang="en-US" sz="800">
                          <a:effectLst/>
                        </a:rPr>
                        <a:t>3080 / A5000 / H200</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tc>
                  <a:txBody>
                    <a:bodyPr/>
                    <a:lstStyle/>
                    <a:p>
                      <a:pPr algn="ctr">
                        <a:buNone/>
                      </a:pPr>
                      <a:r>
                        <a:rPr lang="en-US" sz="800" dirty="0">
                          <a:effectLst/>
                        </a:rPr>
                        <a:t>✓</a:t>
                      </a:r>
                    </a:p>
                  </a:txBody>
                  <a:tcPr marL="19394" marR="19394" marT="9697" marB="9697" anchor="ctr">
                    <a:lnL>
                      <a:noFill/>
                    </a:lnL>
                    <a:lnR>
                      <a:noFill/>
                    </a:lnR>
                    <a:lnT>
                      <a:noFill/>
                    </a:lnT>
                    <a:lnB>
                      <a:noFill/>
                    </a:lnB>
                    <a:noFill/>
                  </a:tcPr>
                </a:tc>
                <a:extLst>
                  <a:ext uri="{0D108BD9-81ED-4DB2-BD59-A6C34878D82A}">
                    <a16:rowId xmlns:a16="http://schemas.microsoft.com/office/drawing/2014/main" val="573884528"/>
                  </a:ext>
                </a:extLst>
              </a:tr>
              <a:tr h="187940">
                <a:tc>
                  <a:txBody>
                    <a:bodyPr/>
                    <a:lstStyle/>
                    <a:p>
                      <a:pPr>
                        <a:buNone/>
                      </a:pPr>
                      <a:r>
                        <a:rPr lang="en-US" sz="800" b="1" u="none" strike="noStrike">
                          <a:solidFill>
                            <a:srgbClr val="48A0C7"/>
                          </a:solidFill>
                          <a:effectLst/>
                          <a:latin typeface="Consolas" panose="020B0609020204030204" pitchFamily="49" charset="0"/>
                          <a:hlinkClick r:id="rId3"/>
                        </a:rPr>
                        <a:t>DCdetectorDetector</a:t>
                      </a:r>
                      <a:endParaRPr lang="en-US" sz="800" b="1">
                        <a:effectLst/>
                      </a:endParaRPr>
                    </a:p>
                  </a:txBody>
                  <a:tcPr marL="19394" marR="19394" marT="9697" marB="9697" anchor="ctr">
                    <a:lnL>
                      <a:noFill/>
                    </a:lnL>
                    <a:lnR>
                      <a:noFill/>
                    </a:lnR>
                    <a:lnT>
                      <a:noFill/>
                    </a:lnT>
                    <a:lnB>
                      <a:noFill/>
                    </a:lnB>
                    <a:noFill/>
                  </a:tcPr>
                </a:tc>
                <a:tc>
                  <a:txBody>
                    <a:bodyPr/>
                    <a:lstStyle/>
                    <a:p>
                      <a:pPr>
                        <a:buNone/>
                      </a:pPr>
                      <a:r>
                        <a:rPr lang="en-US" sz="800">
                          <a:solidFill>
                            <a:srgbClr val="8C8C8C"/>
                          </a:solidFill>
                          <a:effectLst/>
                          <a:latin typeface="Consolas" panose="020B0609020204030204" pitchFamily="49" charset="0"/>
                        </a:rPr>
                        <a:t>dcdetector</a:t>
                      </a:r>
                      <a:endParaRPr lang="en-US" sz="800">
                        <a:effectLst/>
                      </a:endParaRPr>
                    </a:p>
                  </a:txBody>
                  <a:tcPr marL="19394" marR="19394" marT="9697" marB="9697" anchor="ctr">
                    <a:lnL>
                      <a:noFill/>
                    </a:lnL>
                    <a:lnR>
                      <a:noFill/>
                    </a:lnR>
                    <a:lnT>
                      <a:noFill/>
                    </a:lnT>
                    <a:lnB>
                      <a:noFill/>
                    </a:lnB>
                    <a:noFill/>
                  </a:tcPr>
                </a:tc>
                <a:tc>
                  <a:txBody>
                    <a:bodyPr/>
                    <a:lstStyle/>
                    <a:p>
                      <a:pPr>
                        <a:buNone/>
                      </a:pPr>
                      <a:r>
                        <a:rPr lang="en-US" sz="800">
                          <a:effectLst/>
                        </a:rPr>
                        <a:t>Dual-attention contrastive</a:t>
                      </a:r>
                    </a:p>
                  </a:txBody>
                  <a:tcPr marL="19394" marR="19394" marT="9697" marB="9697" anchor="ctr">
                    <a:lnL>
                      <a:noFill/>
                    </a:lnL>
                    <a:lnR>
                      <a:noFill/>
                    </a:lnR>
                    <a:lnT>
                      <a:noFill/>
                    </a:lnT>
                    <a:lnB>
                      <a:noFill/>
                    </a:lnB>
                    <a:noFill/>
                  </a:tcPr>
                </a:tc>
                <a:tc>
                  <a:txBody>
                    <a:bodyPr/>
                    <a:lstStyle/>
                    <a:p>
                      <a:pPr>
                        <a:buNone/>
                      </a:pPr>
                      <a:r>
                        <a:rPr lang="en-US" sz="800">
                          <a:effectLst/>
                        </a:rPr>
                        <a:t>Phase 2</a:t>
                      </a:r>
                    </a:p>
                  </a:txBody>
                  <a:tcPr marL="19394" marR="19394" marT="9697" marB="9697" anchor="ctr">
                    <a:lnL>
                      <a:noFill/>
                    </a:lnL>
                    <a:lnR>
                      <a:noFill/>
                    </a:lnR>
                    <a:lnT>
                      <a:noFill/>
                    </a:lnT>
                    <a:lnB>
                      <a:noFill/>
                    </a:lnB>
                    <a:noFill/>
                  </a:tcPr>
                </a:tc>
                <a:tc>
                  <a:txBody>
                    <a:bodyPr/>
                    <a:lstStyle/>
                    <a:p>
                      <a:pPr>
                        <a:buNone/>
                      </a:pPr>
                      <a:r>
                        <a:rPr lang="en-US" sz="800">
                          <a:effectLst/>
                        </a:rPr>
                        <a:t>3080 / A5000 / H200</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extLst>
                  <a:ext uri="{0D108BD9-81ED-4DB2-BD59-A6C34878D82A}">
                    <a16:rowId xmlns:a16="http://schemas.microsoft.com/office/drawing/2014/main" val="1396685679"/>
                  </a:ext>
                </a:extLst>
              </a:tr>
              <a:tr h="244089">
                <a:tc>
                  <a:txBody>
                    <a:bodyPr/>
                    <a:lstStyle/>
                    <a:p>
                      <a:pPr>
                        <a:buNone/>
                      </a:pPr>
                      <a:r>
                        <a:rPr lang="en-US" sz="800" b="1" u="none" strike="noStrike">
                          <a:solidFill>
                            <a:srgbClr val="48A0C7"/>
                          </a:solidFill>
                          <a:effectLst/>
                          <a:latin typeface="Consolas" panose="020B0609020204030204" pitchFamily="49" charset="0"/>
                          <a:hlinkClick r:id="rId4"/>
                        </a:rPr>
                        <a:t>ChronosDetector</a:t>
                      </a:r>
                      <a:endParaRPr lang="en-US" sz="800" b="1">
                        <a:effectLst/>
                      </a:endParaRPr>
                    </a:p>
                  </a:txBody>
                  <a:tcPr marL="19394" marR="19394" marT="9697" marB="9697" anchor="ctr">
                    <a:lnL>
                      <a:noFill/>
                    </a:lnL>
                    <a:lnR>
                      <a:noFill/>
                    </a:lnR>
                    <a:lnT>
                      <a:noFill/>
                    </a:lnT>
                    <a:lnB>
                      <a:noFill/>
                    </a:lnB>
                    <a:noFill/>
                  </a:tcPr>
                </a:tc>
                <a:tc>
                  <a:txBody>
                    <a:bodyPr/>
                    <a:lstStyle/>
                    <a:p>
                      <a:pPr>
                        <a:buNone/>
                      </a:pPr>
                      <a:r>
                        <a:rPr lang="en-US" sz="800">
                          <a:solidFill>
                            <a:srgbClr val="8C8C8C"/>
                          </a:solidFill>
                          <a:effectLst/>
                          <a:latin typeface="Consolas" panose="020B0609020204030204" pitchFamily="49" charset="0"/>
                        </a:rPr>
                        <a:t>chronos_zero</a:t>
                      </a:r>
                      <a:r>
                        <a:rPr lang="en-US" sz="800">
                          <a:effectLst/>
                        </a:rPr>
                        <a:t> / </a:t>
                      </a:r>
                      <a:r>
                        <a:rPr lang="en-US" sz="800">
                          <a:solidFill>
                            <a:srgbClr val="8C8C8C"/>
                          </a:solidFill>
                          <a:effectLst/>
                          <a:latin typeface="Consolas" panose="020B0609020204030204" pitchFamily="49" charset="0"/>
                        </a:rPr>
                        <a:t>chronos_lora</a:t>
                      </a:r>
                      <a:endParaRPr lang="en-US" sz="800">
                        <a:effectLst/>
                      </a:endParaRPr>
                    </a:p>
                  </a:txBody>
                  <a:tcPr marL="19394" marR="19394" marT="9697" marB="9697" anchor="ctr">
                    <a:lnL>
                      <a:noFill/>
                    </a:lnL>
                    <a:lnR>
                      <a:noFill/>
                    </a:lnR>
                    <a:lnT>
                      <a:noFill/>
                    </a:lnT>
                    <a:lnB>
                      <a:noFill/>
                    </a:lnB>
                    <a:noFill/>
                  </a:tcPr>
                </a:tc>
                <a:tc>
                  <a:txBody>
                    <a:bodyPr/>
                    <a:lstStyle/>
                    <a:p>
                      <a:pPr>
                        <a:buNone/>
                      </a:pPr>
                      <a:r>
                        <a:rPr lang="en-US" sz="800">
                          <a:effectLst/>
                        </a:rPr>
                        <a:t>T5-based forecasting foundation model</a:t>
                      </a:r>
                    </a:p>
                  </a:txBody>
                  <a:tcPr marL="19394" marR="19394" marT="9697" marB="9697" anchor="ctr">
                    <a:lnL>
                      <a:noFill/>
                    </a:lnL>
                    <a:lnR>
                      <a:noFill/>
                    </a:lnR>
                    <a:lnT>
                      <a:noFill/>
                    </a:lnT>
                    <a:lnB>
                      <a:noFill/>
                    </a:lnB>
                    <a:noFill/>
                  </a:tcPr>
                </a:tc>
                <a:tc>
                  <a:txBody>
                    <a:bodyPr/>
                    <a:lstStyle/>
                    <a:p>
                      <a:pPr>
                        <a:buNone/>
                      </a:pPr>
                      <a:r>
                        <a:rPr lang="en-US" sz="800">
                          <a:effectLst/>
                        </a:rPr>
                        <a:t>Phase 3</a:t>
                      </a:r>
                    </a:p>
                  </a:txBody>
                  <a:tcPr marL="19394" marR="19394" marT="9697" marB="9697" anchor="ctr">
                    <a:lnL>
                      <a:noFill/>
                    </a:lnL>
                    <a:lnR>
                      <a:noFill/>
                    </a:lnR>
                    <a:lnT>
                      <a:noFill/>
                    </a:lnT>
                    <a:lnB>
                      <a:noFill/>
                    </a:lnB>
                    <a:noFill/>
                  </a:tcPr>
                </a:tc>
                <a:tc>
                  <a:txBody>
                    <a:bodyPr/>
                    <a:lstStyle/>
                    <a:p>
                      <a:pPr>
                        <a:buNone/>
                      </a:pPr>
                      <a:r>
                        <a:rPr lang="en-US" sz="800">
                          <a:effectLst/>
                        </a:rPr>
                        <a:t>A5000 / H200</a:t>
                      </a:r>
                    </a:p>
                  </a:txBody>
                  <a:tcPr marL="19394" marR="19394" marT="9697" marB="9697" anchor="ctr">
                    <a:lnL>
                      <a:noFill/>
                    </a:lnL>
                    <a:lnR>
                      <a:noFill/>
                    </a:lnR>
                    <a:lnT>
                      <a:noFill/>
                    </a:lnT>
                    <a:lnB>
                      <a:noFill/>
                    </a:lnB>
                    <a:noFill/>
                  </a:tcPr>
                </a:tc>
                <a:tc>
                  <a:txBody>
                    <a:bodyPr/>
                    <a:lstStyle/>
                    <a:p>
                      <a:pPr algn="ctr">
                        <a:buNone/>
                      </a:pPr>
                      <a:r>
                        <a:rPr lang="en-US" sz="800">
                          <a:effectLst/>
                        </a:rPr>
                        <a:t>✓ (per-channel)</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extLst>
                  <a:ext uri="{0D108BD9-81ED-4DB2-BD59-A6C34878D82A}">
                    <a16:rowId xmlns:a16="http://schemas.microsoft.com/office/drawing/2014/main" val="1114033101"/>
                  </a:ext>
                </a:extLst>
              </a:tr>
              <a:tr h="244089">
                <a:tc>
                  <a:txBody>
                    <a:bodyPr/>
                    <a:lstStyle/>
                    <a:p>
                      <a:pPr>
                        <a:buNone/>
                      </a:pPr>
                      <a:r>
                        <a:rPr lang="en-US" sz="800" b="1" u="none" strike="noStrike" dirty="0" err="1">
                          <a:solidFill>
                            <a:srgbClr val="48A0C7"/>
                          </a:solidFill>
                          <a:effectLst/>
                          <a:latin typeface="Consolas" panose="020B0609020204030204" pitchFamily="49" charset="0"/>
                          <a:hlinkClick r:id="rId4"/>
                        </a:rPr>
                        <a:t>MoiraiDetector</a:t>
                      </a:r>
                      <a:endParaRPr lang="en-US" sz="800" b="1" dirty="0">
                        <a:effectLst/>
                      </a:endParaRPr>
                    </a:p>
                  </a:txBody>
                  <a:tcPr marL="19394" marR="19394" marT="9697" marB="9697" anchor="ctr">
                    <a:lnL>
                      <a:noFill/>
                    </a:lnL>
                    <a:lnR>
                      <a:noFill/>
                    </a:lnR>
                    <a:lnT>
                      <a:noFill/>
                    </a:lnT>
                    <a:lnB>
                      <a:noFill/>
                    </a:lnB>
                    <a:noFill/>
                  </a:tcPr>
                </a:tc>
                <a:tc>
                  <a:txBody>
                    <a:bodyPr/>
                    <a:lstStyle/>
                    <a:p>
                      <a:pPr>
                        <a:buNone/>
                      </a:pPr>
                      <a:r>
                        <a:rPr lang="en-US" sz="800">
                          <a:solidFill>
                            <a:srgbClr val="8C8C8C"/>
                          </a:solidFill>
                          <a:effectLst/>
                          <a:latin typeface="Consolas" panose="020B0609020204030204" pitchFamily="49" charset="0"/>
                        </a:rPr>
                        <a:t>moirai_zero</a:t>
                      </a:r>
                      <a:r>
                        <a:rPr lang="en-US" sz="800">
                          <a:effectLst/>
                        </a:rPr>
                        <a:t> / </a:t>
                      </a:r>
                      <a:r>
                        <a:rPr lang="en-US" sz="800">
                          <a:solidFill>
                            <a:srgbClr val="8C8C8C"/>
                          </a:solidFill>
                          <a:effectLst/>
                          <a:latin typeface="Consolas" panose="020B0609020204030204" pitchFamily="49" charset="0"/>
                        </a:rPr>
                        <a:t>moirai_lora</a:t>
                      </a:r>
                      <a:endParaRPr lang="en-US" sz="800">
                        <a:effectLst/>
                      </a:endParaRPr>
                    </a:p>
                  </a:txBody>
                  <a:tcPr marL="19394" marR="19394" marT="9697" marB="9697" anchor="ctr">
                    <a:lnL>
                      <a:noFill/>
                    </a:lnL>
                    <a:lnR>
                      <a:noFill/>
                    </a:lnR>
                    <a:lnT>
                      <a:noFill/>
                    </a:lnT>
                    <a:lnB>
                      <a:noFill/>
                    </a:lnB>
                    <a:noFill/>
                  </a:tcPr>
                </a:tc>
                <a:tc>
                  <a:txBody>
                    <a:bodyPr/>
                    <a:lstStyle/>
                    <a:p>
                      <a:pPr>
                        <a:buNone/>
                      </a:pPr>
                      <a:r>
                        <a:rPr lang="en-US" sz="800">
                          <a:effectLst/>
                        </a:rPr>
                        <a:t>Patched encoder-only forecasting foundation</a:t>
                      </a:r>
                    </a:p>
                  </a:txBody>
                  <a:tcPr marL="19394" marR="19394" marT="9697" marB="9697" anchor="ctr">
                    <a:lnL>
                      <a:noFill/>
                    </a:lnL>
                    <a:lnR>
                      <a:noFill/>
                    </a:lnR>
                    <a:lnT>
                      <a:noFill/>
                    </a:lnT>
                    <a:lnB>
                      <a:noFill/>
                    </a:lnB>
                    <a:noFill/>
                  </a:tcPr>
                </a:tc>
                <a:tc>
                  <a:txBody>
                    <a:bodyPr/>
                    <a:lstStyle/>
                    <a:p>
                      <a:pPr>
                        <a:buNone/>
                      </a:pPr>
                      <a:r>
                        <a:rPr lang="en-US" sz="800">
                          <a:effectLst/>
                        </a:rPr>
                        <a:t>Phase 3</a:t>
                      </a:r>
                    </a:p>
                  </a:txBody>
                  <a:tcPr marL="19394" marR="19394" marT="9697" marB="9697" anchor="ctr">
                    <a:lnL>
                      <a:noFill/>
                    </a:lnL>
                    <a:lnR>
                      <a:noFill/>
                    </a:lnR>
                    <a:lnT>
                      <a:noFill/>
                    </a:lnT>
                    <a:lnB>
                      <a:noFill/>
                    </a:lnB>
                    <a:noFill/>
                  </a:tcPr>
                </a:tc>
                <a:tc>
                  <a:txBody>
                    <a:bodyPr/>
                    <a:lstStyle/>
                    <a:p>
                      <a:pPr>
                        <a:buNone/>
                      </a:pPr>
                      <a:r>
                        <a:rPr lang="en-US" sz="800">
                          <a:effectLst/>
                        </a:rPr>
                        <a:t>A5000 / H200</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extLst>
                  <a:ext uri="{0D108BD9-81ED-4DB2-BD59-A6C34878D82A}">
                    <a16:rowId xmlns:a16="http://schemas.microsoft.com/office/drawing/2014/main" val="3306416702"/>
                  </a:ext>
                </a:extLst>
              </a:tr>
              <a:tr h="244089">
                <a:tc>
                  <a:txBody>
                    <a:bodyPr/>
                    <a:lstStyle/>
                    <a:p>
                      <a:pPr>
                        <a:buNone/>
                      </a:pPr>
                      <a:r>
                        <a:rPr lang="en-US" sz="800" b="1" u="none" strike="noStrike">
                          <a:solidFill>
                            <a:srgbClr val="48A0C7"/>
                          </a:solidFill>
                          <a:effectLst/>
                          <a:latin typeface="Consolas" panose="020B0609020204030204" pitchFamily="49" charset="0"/>
                          <a:hlinkClick r:id="rId4"/>
                        </a:rPr>
                        <a:t>MOMENTDetector</a:t>
                      </a:r>
                      <a:endParaRPr lang="en-US" sz="800" b="1">
                        <a:effectLst/>
                      </a:endParaRPr>
                    </a:p>
                  </a:txBody>
                  <a:tcPr marL="19394" marR="19394" marT="9697" marB="9697" anchor="ctr">
                    <a:lnL>
                      <a:noFill/>
                    </a:lnL>
                    <a:lnR>
                      <a:noFill/>
                    </a:lnR>
                    <a:lnT>
                      <a:noFill/>
                    </a:lnT>
                    <a:lnB>
                      <a:noFill/>
                    </a:lnB>
                    <a:noFill/>
                  </a:tcPr>
                </a:tc>
                <a:tc>
                  <a:txBody>
                    <a:bodyPr/>
                    <a:lstStyle/>
                    <a:p>
                      <a:pPr>
                        <a:buNone/>
                      </a:pPr>
                      <a:r>
                        <a:rPr lang="en-US" sz="800">
                          <a:solidFill>
                            <a:srgbClr val="8C8C8C"/>
                          </a:solidFill>
                          <a:effectLst/>
                          <a:latin typeface="Consolas" panose="020B0609020204030204" pitchFamily="49" charset="0"/>
                        </a:rPr>
                        <a:t>moment_zero</a:t>
                      </a:r>
                      <a:r>
                        <a:rPr lang="en-US" sz="800">
                          <a:effectLst/>
                        </a:rPr>
                        <a:t> / </a:t>
                      </a:r>
                      <a:r>
                        <a:rPr lang="en-US" sz="800">
                          <a:solidFill>
                            <a:srgbClr val="8C8C8C"/>
                          </a:solidFill>
                          <a:effectLst/>
                          <a:latin typeface="Consolas" panose="020B0609020204030204" pitchFamily="49" charset="0"/>
                        </a:rPr>
                        <a:t>moment_lora</a:t>
                      </a:r>
                      <a:endParaRPr lang="en-US" sz="800">
                        <a:effectLst/>
                      </a:endParaRPr>
                    </a:p>
                  </a:txBody>
                  <a:tcPr marL="19394" marR="19394" marT="9697" marB="9697" anchor="ctr">
                    <a:lnL>
                      <a:noFill/>
                    </a:lnL>
                    <a:lnR>
                      <a:noFill/>
                    </a:lnR>
                    <a:lnT>
                      <a:noFill/>
                    </a:lnT>
                    <a:lnB>
                      <a:noFill/>
                    </a:lnB>
                    <a:noFill/>
                  </a:tcPr>
                </a:tc>
                <a:tc>
                  <a:txBody>
                    <a:bodyPr/>
                    <a:lstStyle/>
                    <a:p>
                      <a:pPr>
                        <a:buNone/>
                      </a:pPr>
                      <a:r>
                        <a:rPr lang="en-US" sz="800">
                          <a:effectLst/>
                        </a:rPr>
                        <a:t>Patched encoder + recon foundation</a:t>
                      </a:r>
                    </a:p>
                  </a:txBody>
                  <a:tcPr marL="19394" marR="19394" marT="9697" marB="9697" anchor="ctr">
                    <a:lnL>
                      <a:noFill/>
                    </a:lnL>
                    <a:lnR>
                      <a:noFill/>
                    </a:lnR>
                    <a:lnT>
                      <a:noFill/>
                    </a:lnT>
                    <a:lnB>
                      <a:noFill/>
                    </a:lnB>
                    <a:noFill/>
                  </a:tcPr>
                </a:tc>
                <a:tc>
                  <a:txBody>
                    <a:bodyPr/>
                    <a:lstStyle/>
                    <a:p>
                      <a:pPr>
                        <a:buNone/>
                      </a:pPr>
                      <a:r>
                        <a:rPr lang="en-US" sz="800">
                          <a:effectLst/>
                        </a:rPr>
                        <a:t>Phase 3</a:t>
                      </a:r>
                    </a:p>
                  </a:txBody>
                  <a:tcPr marL="19394" marR="19394" marT="9697" marB="9697" anchor="ctr">
                    <a:lnL>
                      <a:noFill/>
                    </a:lnL>
                    <a:lnR>
                      <a:noFill/>
                    </a:lnR>
                    <a:lnT>
                      <a:noFill/>
                    </a:lnT>
                    <a:lnB>
                      <a:noFill/>
                    </a:lnB>
                    <a:noFill/>
                  </a:tcPr>
                </a:tc>
                <a:tc>
                  <a:txBody>
                    <a:bodyPr/>
                    <a:lstStyle/>
                    <a:p>
                      <a:pPr>
                        <a:buNone/>
                      </a:pPr>
                      <a:r>
                        <a:rPr lang="en-US" sz="800">
                          <a:effectLst/>
                        </a:rPr>
                        <a:t>A5000 / H200</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extLst>
                  <a:ext uri="{0D108BD9-81ED-4DB2-BD59-A6C34878D82A}">
                    <a16:rowId xmlns:a16="http://schemas.microsoft.com/office/drawing/2014/main" val="185908061"/>
                  </a:ext>
                </a:extLst>
              </a:tr>
              <a:tr h="300238">
                <a:tc>
                  <a:txBody>
                    <a:bodyPr/>
                    <a:lstStyle/>
                    <a:p>
                      <a:pPr>
                        <a:buNone/>
                      </a:pPr>
                      <a:r>
                        <a:rPr lang="en-US" sz="800" b="1" u="none" strike="noStrike">
                          <a:solidFill>
                            <a:srgbClr val="48A0C7"/>
                          </a:solidFill>
                          <a:effectLst/>
                          <a:latin typeface="Consolas" panose="020B0609020204030204" pitchFamily="49" charset="0"/>
                          <a:hlinkClick r:id="rId3"/>
                        </a:rPr>
                        <a:t>SatTSFMDetector</a:t>
                      </a:r>
                      <a:endParaRPr lang="en-US" sz="800" b="1">
                        <a:effectLst/>
                      </a:endParaRPr>
                    </a:p>
                  </a:txBody>
                  <a:tcPr marL="19394" marR="19394" marT="9697" marB="9697" anchor="ctr">
                    <a:lnL>
                      <a:noFill/>
                    </a:lnL>
                    <a:lnR>
                      <a:noFill/>
                    </a:lnR>
                    <a:lnT>
                      <a:noFill/>
                    </a:lnT>
                    <a:lnB>
                      <a:noFill/>
                    </a:lnB>
                    <a:noFill/>
                  </a:tcPr>
                </a:tc>
                <a:tc>
                  <a:txBody>
                    <a:bodyPr/>
                    <a:lstStyle/>
                    <a:p>
                      <a:pPr>
                        <a:buNone/>
                      </a:pPr>
                      <a:r>
                        <a:rPr lang="en-US" sz="800">
                          <a:solidFill>
                            <a:srgbClr val="8C8C8C"/>
                          </a:solidFill>
                          <a:effectLst/>
                          <a:latin typeface="Consolas" panose="020B0609020204030204" pitchFamily="49" charset="0"/>
                        </a:rPr>
                        <a:t>sat_tsfm</a:t>
                      </a:r>
                      <a:endParaRPr lang="en-US" sz="800">
                        <a:effectLst/>
                      </a:endParaRPr>
                    </a:p>
                  </a:txBody>
                  <a:tcPr marL="19394" marR="19394" marT="9697" marB="9697" anchor="ctr">
                    <a:lnL>
                      <a:noFill/>
                    </a:lnL>
                    <a:lnR>
                      <a:noFill/>
                    </a:lnR>
                    <a:lnT>
                      <a:noFill/>
                    </a:lnT>
                    <a:lnB>
                      <a:noFill/>
                    </a:lnB>
                    <a:noFill/>
                  </a:tcPr>
                </a:tc>
                <a:tc>
                  <a:txBody>
                    <a:bodyPr/>
                    <a:lstStyle/>
                    <a:p>
                      <a:pPr>
                        <a:buNone/>
                      </a:pPr>
                      <a:r>
                        <a:rPr lang="en-US" sz="800">
                          <a:effectLst/>
                        </a:rPr>
                        <a:t>Channel-flexible Sat-TSFM (from-scratch foundation)</a:t>
                      </a:r>
                    </a:p>
                  </a:txBody>
                  <a:tcPr marL="19394" marR="19394" marT="9697" marB="9697" anchor="ctr">
                    <a:lnL>
                      <a:noFill/>
                    </a:lnL>
                    <a:lnR>
                      <a:noFill/>
                    </a:lnR>
                    <a:lnT>
                      <a:noFill/>
                    </a:lnT>
                    <a:lnB>
                      <a:noFill/>
                    </a:lnB>
                    <a:noFill/>
                  </a:tcPr>
                </a:tc>
                <a:tc>
                  <a:txBody>
                    <a:bodyPr/>
                    <a:lstStyle/>
                    <a:p>
                      <a:pPr>
                        <a:buNone/>
                      </a:pPr>
                      <a:r>
                        <a:rPr lang="en-US" sz="800">
                          <a:effectLst/>
                        </a:rPr>
                        <a:t>Phase 4</a:t>
                      </a:r>
                    </a:p>
                  </a:txBody>
                  <a:tcPr marL="19394" marR="19394" marT="9697" marB="9697" anchor="ctr">
                    <a:lnL>
                      <a:noFill/>
                    </a:lnL>
                    <a:lnR>
                      <a:noFill/>
                    </a:lnR>
                    <a:lnT>
                      <a:noFill/>
                    </a:lnT>
                    <a:lnB>
                      <a:noFill/>
                    </a:lnB>
                    <a:noFill/>
                  </a:tcPr>
                </a:tc>
                <a:tc>
                  <a:txBody>
                    <a:bodyPr/>
                    <a:lstStyle/>
                    <a:p>
                      <a:pPr>
                        <a:buNone/>
                      </a:pPr>
                      <a:r>
                        <a:rPr lang="en-US" sz="800">
                          <a:effectLst/>
                        </a:rPr>
                        <a:t>A5000 / H200 / 8x H200</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extLst>
                  <a:ext uri="{0D108BD9-81ED-4DB2-BD59-A6C34878D82A}">
                    <a16:rowId xmlns:a16="http://schemas.microsoft.com/office/drawing/2014/main" val="4015324219"/>
                  </a:ext>
                </a:extLst>
              </a:tr>
              <a:tr h="244089">
                <a:tc>
                  <a:txBody>
                    <a:bodyPr/>
                    <a:lstStyle/>
                    <a:p>
                      <a:pPr>
                        <a:buNone/>
                      </a:pPr>
                      <a:r>
                        <a:rPr lang="en-US" sz="800" b="1" u="none" strike="noStrike">
                          <a:solidFill>
                            <a:srgbClr val="48A0C7"/>
                          </a:solidFill>
                          <a:effectLst/>
                          <a:latin typeface="Consolas" panose="020B0609020204030204" pitchFamily="49" charset="0"/>
                          <a:hlinkClick r:id="rId3"/>
                        </a:rPr>
                        <a:t>SubsystemMoEDetector</a:t>
                      </a:r>
                      <a:endParaRPr lang="en-US" sz="800" b="1">
                        <a:effectLst/>
                      </a:endParaRPr>
                    </a:p>
                  </a:txBody>
                  <a:tcPr marL="19394" marR="19394" marT="9697" marB="9697" anchor="ctr">
                    <a:lnL>
                      <a:noFill/>
                    </a:lnL>
                    <a:lnR>
                      <a:noFill/>
                    </a:lnR>
                    <a:lnT>
                      <a:noFill/>
                    </a:lnT>
                    <a:lnB>
                      <a:noFill/>
                    </a:lnB>
                    <a:noFill/>
                  </a:tcPr>
                </a:tc>
                <a:tc>
                  <a:txBody>
                    <a:bodyPr/>
                    <a:lstStyle/>
                    <a:p>
                      <a:pPr>
                        <a:buNone/>
                      </a:pPr>
                      <a:r>
                        <a:rPr lang="en-US" sz="800">
                          <a:solidFill>
                            <a:srgbClr val="8C8C8C"/>
                          </a:solidFill>
                          <a:effectLst/>
                          <a:latin typeface="Consolas" panose="020B0609020204030204" pitchFamily="49" charset="0"/>
                        </a:rPr>
                        <a:t>subsystem_moe</a:t>
                      </a:r>
                      <a:endParaRPr lang="en-US" sz="800">
                        <a:effectLst/>
                      </a:endParaRPr>
                    </a:p>
                  </a:txBody>
                  <a:tcPr marL="19394" marR="19394" marT="9697" marB="9697" anchor="ctr">
                    <a:lnL>
                      <a:noFill/>
                    </a:lnL>
                    <a:lnR>
                      <a:noFill/>
                    </a:lnR>
                    <a:lnT>
                      <a:noFill/>
                    </a:lnT>
                    <a:lnB>
                      <a:noFill/>
                    </a:lnB>
                    <a:noFill/>
                  </a:tcPr>
                </a:tc>
                <a:tc>
                  <a:txBody>
                    <a:bodyPr/>
                    <a:lstStyle/>
                    <a:p>
                      <a:pPr>
                        <a:buNone/>
                      </a:pPr>
                      <a:r>
                        <a:rPr lang="en-US" sz="800" dirty="0">
                          <a:effectLst/>
                        </a:rPr>
                        <a:t>Per-subsystem Mixture-of-Experts</a:t>
                      </a:r>
                    </a:p>
                  </a:txBody>
                  <a:tcPr marL="19394" marR="19394" marT="9697" marB="9697" anchor="ctr">
                    <a:lnL>
                      <a:noFill/>
                    </a:lnL>
                    <a:lnR>
                      <a:noFill/>
                    </a:lnR>
                    <a:lnT>
                      <a:noFill/>
                    </a:lnT>
                    <a:lnB>
                      <a:noFill/>
                    </a:lnB>
                    <a:noFill/>
                  </a:tcPr>
                </a:tc>
                <a:tc>
                  <a:txBody>
                    <a:bodyPr/>
                    <a:lstStyle/>
                    <a:p>
                      <a:pPr>
                        <a:buNone/>
                      </a:pPr>
                      <a:r>
                        <a:rPr lang="en-US" sz="800">
                          <a:effectLst/>
                        </a:rPr>
                        <a:t>Phase 4</a:t>
                      </a:r>
                    </a:p>
                  </a:txBody>
                  <a:tcPr marL="19394" marR="19394" marT="9697" marB="9697" anchor="ctr">
                    <a:lnL>
                      <a:noFill/>
                    </a:lnL>
                    <a:lnR>
                      <a:noFill/>
                    </a:lnR>
                    <a:lnT>
                      <a:noFill/>
                    </a:lnT>
                    <a:lnB>
                      <a:noFill/>
                    </a:lnB>
                    <a:noFill/>
                  </a:tcPr>
                </a:tc>
                <a:tc>
                  <a:txBody>
                    <a:bodyPr/>
                    <a:lstStyle/>
                    <a:p>
                      <a:pPr>
                        <a:buNone/>
                      </a:pPr>
                      <a:r>
                        <a:rPr lang="en-US" sz="800">
                          <a:effectLst/>
                        </a:rPr>
                        <a:t>A5000 / H200</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tc>
                  <a:txBody>
                    <a:bodyPr/>
                    <a:lstStyle/>
                    <a:p>
                      <a:pPr algn="ctr">
                        <a:buNone/>
                      </a:pPr>
                      <a:r>
                        <a:rPr lang="en-US" sz="800" dirty="0">
                          <a:effectLst/>
                        </a:rPr>
                        <a:t>✓</a:t>
                      </a:r>
                    </a:p>
                  </a:txBody>
                  <a:tcPr marL="19394" marR="19394" marT="9697" marB="9697" anchor="ctr">
                    <a:lnL>
                      <a:noFill/>
                    </a:lnL>
                    <a:lnR>
                      <a:noFill/>
                    </a:lnR>
                    <a:lnT>
                      <a:noFill/>
                    </a:lnT>
                    <a:lnB>
                      <a:noFill/>
                    </a:lnB>
                    <a:noFill/>
                  </a:tcPr>
                </a:tc>
                <a:extLst>
                  <a:ext uri="{0D108BD9-81ED-4DB2-BD59-A6C34878D82A}">
                    <a16:rowId xmlns:a16="http://schemas.microsoft.com/office/drawing/2014/main" val="1397360056"/>
                  </a:ext>
                </a:extLst>
              </a:tr>
              <a:tr h="356386">
                <a:tc>
                  <a:txBody>
                    <a:bodyPr/>
                    <a:lstStyle/>
                    <a:p>
                      <a:pPr>
                        <a:buNone/>
                      </a:pPr>
                      <a:r>
                        <a:rPr lang="en-US" sz="800" b="1" u="none" strike="noStrike">
                          <a:solidFill>
                            <a:srgbClr val="48A0C7"/>
                          </a:solidFill>
                          <a:effectLst/>
                          <a:latin typeface="Consolas" panose="020B0609020204030204" pitchFamily="49" charset="0"/>
                          <a:hlinkClick r:id="rId5"/>
                        </a:rPr>
                        <a:t>PINNResidualDetector</a:t>
                      </a:r>
                      <a:endParaRPr lang="en-US" sz="800" b="1">
                        <a:effectLst/>
                      </a:endParaRPr>
                    </a:p>
                  </a:txBody>
                  <a:tcPr marL="19394" marR="19394" marT="9697" marB="9697" anchor="ctr">
                    <a:lnL>
                      <a:noFill/>
                    </a:lnL>
                    <a:lnR>
                      <a:noFill/>
                    </a:lnR>
                    <a:lnT>
                      <a:noFill/>
                    </a:lnT>
                    <a:lnB>
                      <a:noFill/>
                    </a:lnB>
                    <a:noFill/>
                  </a:tcPr>
                </a:tc>
                <a:tc>
                  <a:txBody>
                    <a:bodyPr/>
                    <a:lstStyle/>
                    <a:p>
                      <a:pPr>
                        <a:buNone/>
                      </a:pPr>
                      <a:r>
                        <a:rPr lang="en-US" sz="800">
                          <a:solidFill>
                            <a:srgbClr val="8C8C8C"/>
                          </a:solidFill>
                          <a:effectLst/>
                          <a:latin typeface="Consolas" panose="020B0609020204030204" pitchFamily="49" charset="0"/>
                        </a:rPr>
                        <a:t>pinn_residual</a:t>
                      </a:r>
                      <a:endParaRPr lang="en-US" sz="800">
                        <a:effectLst/>
                      </a:endParaRPr>
                    </a:p>
                  </a:txBody>
                  <a:tcPr marL="19394" marR="19394" marT="9697" marB="9697" anchor="ctr">
                    <a:lnL>
                      <a:noFill/>
                    </a:lnL>
                    <a:lnR>
                      <a:noFill/>
                    </a:lnR>
                    <a:lnT>
                      <a:noFill/>
                    </a:lnT>
                    <a:lnB>
                      <a:noFill/>
                    </a:lnB>
                    <a:noFill/>
                  </a:tcPr>
                </a:tc>
                <a:tc>
                  <a:txBody>
                    <a:bodyPr/>
                    <a:lstStyle/>
                    <a:p>
                      <a:pPr>
                        <a:buNone/>
                      </a:pPr>
                      <a:r>
                        <a:rPr lang="en-US" sz="800">
                          <a:effectLst/>
                        </a:rPr>
                        <a:t>Physics-residual wrapper (subtract analytical prediction)</a:t>
                      </a:r>
                    </a:p>
                  </a:txBody>
                  <a:tcPr marL="19394" marR="19394" marT="9697" marB="9697" anchor="ctr">
                    <a:lnL>
                      <a:noFill/>
                    </a:lnL>
                    <a:lnR>
                      <a:noFill/>
                    </a:lnR>
                    <a:lnT>
                      <a:noFill/>
                    </a:lnT>
                    <a:lnB>
                      <a:noFill/>
                    </a:lnB>
                    <a:noFill/>
                  </a:tcPr>
                </a:tc>
                <a:tc>
                  <a:txBody>
                    <a:bodyPr/>
                    <a:lstStyle/>
                    <a:p>
                      <a:pPr>
                        <a:buNone/>
                      </a:pPr>
                      <a:r>
                        <a:rPr lang="en-US" sz="800">
                          <a:effectLst/>
                        </a:rPr>
                        <a:t>Phase 4</a:t>
                      </a:r>
                    </a:p>
                  </a:txBody>
                  <a:tcPr marL="19394" marR="19394" marT="9697" marB="9697" anchor="ctr">
                    <a:lnL>
                      <a:noFill/>
                    </a:lnL>
                    <a:lnR>
                      <a:noFill/>
                    </a:lnR>
                    <a:lnT>
                      <a:noFill/>
                    </a:lnT>
                    <a:lnB>
                      <a:noFill/>
                    </a:lnB>
                    <a:noFill/>
                  </a:tcPr>
                </a:tc>
                <a:tc>
                  <a:txBody>
                    <a:bodyPr/>
                    <a:lstStyle/>
                    <a:p>
                      <a:pPr>
                        <a:buNone/>
                      </a:pPr>
                      <a:r>
                        <a:rPr lang="en-US" sz="800">
                          <a:effectLst/>
                        </a:rPr>
                        <a:t>any</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extLst>
                  <a:ext uri="{0D108BD9-81ED-4DB2-BD59-A6C34878D82A}">
                    <a16:rowId xmlns:a16="http://schemas.microsoft.com/office/drawing/2014/main" val="2643600942"/>
                  </a:ext>
                </a:extLst>
              </a:tr>
              <a:tr h="300238">
                <a:tc>
                  <a:txBody>
                    <a:bodyPr/>
                    <a:lstStyle/>
                    <a:p>
                      <a:pPr>
                        <a:buNone/>
                      </a:pPr>
                      <a:r>
                        <a:rPr lang="en-US" sz="800" b="1" u="none" strike="noStrike">
                          <a:solidFill>
                            <a:srgbClr val="48A0C7"/>
                          </a:solidFill>
                          <a:effectLst/>
                          <a:latin typeface="Consolas" panose="020B0609020204030204" pitchFamily="49" charset="0"/>
                          <a:hlinkClick r:id="rId3"/>
                        </a:rPr>
                        <a:t>SatTSFMMultiTaskDetector</a:t>
                      </a:r>
                      <a:endParaRPr lang="en-US" sz="800" b="1">
                        <a:effectLst/>
                      </a:endParaRPr>
                    </a:p>
                  </a:txBody>
                  <a:tcPr marL="19394" marR="19394" marT="9697" marB="9697" anchor="ctr">
                    <a:lnL>
                      <a:noFill/>
                    </a:lnL>
                    <a:lnR>
                      <a:noFill/>
                    </a:lnR>
                    <a:lnT>
                      <a:noFill/>
                    </a:lnT>
                    <a:lnB>
                      <a:noFill/>
                    </a:lnB>
                    <a:noFill/>
                  </a:tcPr>
                </a:tc>
                <a:tc>
                  <a:txBody>
                    <a:bodyPr/>
                    <a:lstStyle/>
                    <a:p>
                      <a:pPr>
                        <a:buNone/>
                      </a:pPr>
                      <a:r>
                        <a:rPr lang="en-US" sz="800">
                          <a:solidFill>
                            <a:srgbClr val="8C8C8C"/>
                          </a:solidFill>
                          <a:effectLst/>
                          <a:latin typeface="Consolas" panose="020B0609020204030204" pitchFamily="49" charset="0"/>
                        </a:rPr>
                        <a:t>sat_tsfm_multitask</a:t>
                      </a:r>
                      <a:endParaRPr lang="en-US" sz="800">
                        <a:effectLst/>
                      </a:endParaRPr>
                    </a:p>
                  </a:txBody>
                  <a:tcPr marL="19394" marR="19394" marT="9697" marB="9697" anchor="ctr">
                    <a:lnL>
                      <a:noFill/>
                    </a:lnL>
                    <a:lnR>
                      <a:noFill/>
                    </a:lnR>
                    <a:lnT>
                      <a:noFill/>
                    </a:lnT>
                    <a:lnB>
                      <a:noFill/>
                    </a:lnB>
                    <a:noFill/>
                  </a:tcPr>
                </a:tc>
                <a:tc>
                  <a:txBody>
                    <a:bodyPr/>
                    <a:lstStyle/>
                    <a:p>
                      <a:pPr>
                        <a:buNone/>
                      </a:pPr>
                      <a:r>
                        <a:rPr lang="en-US" sz="800">
                          <a:effectLst/>
                        </a:rPr>
                        <a:t>Sat-TSFM + 4-head multi-task (AD + fault + RUL + mode)</a:t>
                      </a:r>
                    </a:p>
                  </a:txBody>
                  <a:tcPr marL="19394" marR="19394" marT="9697" marB="9697" anchor="ctr">
                    <a:lnL>
                      <a:noFill/>
                    </a:lnL>
                    <a:lnR>
                      <a:noFill/>
                    </a:lnR>
                    <a:lnT>
                      <a:noFill/>
                    </a:lnT>
                    <a:lnB>
                      <a:noFill/>
                    </a:lnB>
                    <a:noFill/>
                  </a:tcPr>
                </a:tc>
                <a:tc>
                  <a:txBody>
                    <a:bodyPr/>
                    <a:lstStyle/>
                    <a:p>
                      <a:pPr>
                        <a:buNone/>
                      </a:pPr>
                      <a:r>
                        <a:rPr lang="en-US" sz="800">
                          <a:effectLst/>
                        </a:rPr>
                        <a:t>Phase 6</a:t>
                      </a:r>
                    </a:p>
                  </a:txBody>
                  <a:tcPr marL="19394" marR="19394" marT="9697" marB="9697" anchor="ctr">
                    <a:lnL>
                      <a:noFill/>
                    </a:lnL>
                    <a:lnR>
                      <a:noFill/>
                    </a:lnR>
                    <a:lnT>
                      <a:noFill/>
                    </a:lnT>
                    <a:lnB>
                      <a:noFill/>
                    </a:lnB>
                    <a:noFill/>
                  </a:tcPr>
                </a:tc>
                <a:tc>
                  <a:txBody>
                    <a:bodyPr/>
                    <a:lstStyle/>
                    <a:p>
                      <a:pPr>
                        <a:buNone/>
                      </a:pPr>
                      <a:r>
                        <a:rPr lang="en-US" sz="800">
                          <a:effectLst/>
                        </a:rPr>
                        <a:t>A5000 / H200 / 8x H200</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extLst>
                  <a:ext uri="{0D108BD9-81ED-4DB2-BD59-A6C34878D82A}">
                    <a16:rowId xmlns:a16="http://schemas.microsoft.com/office/drawing/2014/main" val="1330528369"/>
                  </a:ext>
                </a:extLst>
              </a:tr>
              <a:tr h="300238">
                <a:tc>
                  <a:txBody>
                    <a:bodyPr/>
                    <a:lstStyle/>
                    <a:p>
                      <a:pPr>
                        <a:buNone/>
                      </a:pPr>
                      <a:r>
                        <a:rPr lang="en-US" sz="800" b="1" u="none" strike="noStrike">
                          <a:solidFill>
                            <a:srgbClr val="48A0C7"/>
                          </a:solidFill>
                          <a:effectLst/>
                          <a:latin typeface="Consolas" panose="020B0609020204030204" pitchFamily="49" charset="0"/>
                          <a:hlinkClick r:id="rId3"/>
                        </a:rPr>
                        <a:t>SequenceTransformerDetector</a:t>
                      </a:r>
                      <a:endParaRPr lang="en-US" sz="800" b="1">
                        <a:effectLst/>
                      </a:endParaRPr>
                    </a:p>
                  </a:txBody>
                  <a:tcPr marL="19394" marR="19394" marT="9697" marB="9697" anchor="ctr">
                    <a:lnL>
                      <a:noFill/>
                    </a:lnL>
                    <a:lnR>
                      <a:noFill/>
                    </a:lnR>
                    <a:lnT>
                      <a:noFill/>
                    </a:lnT>
                    <a:lnB>
                      <a:noFill/>
                    </a:lnB>
                    <a:noFill/>
                  </a:tcPr>
                </a:tc>
                <a:tc>
                  <a:txBody>
                    <a:bodyPr/>
                    <a:lstStyle/>
                    <a:p>
                      <a:pPr>
                        <a:buNone/>
                      </a:pPr>
                      <a:r>
                        <a:rPr lang="en-US" sz="800">
                          <a:solidFill>
                            <a:srgbClr val="8C8C8C"/>
                          </a:solidFill>
                          <a:effectLst/>
                          <a:latin typeface="Consolas" panose="020B0609020204030204" pitchFamily="49" charset="0"/>
                        </a:rPr>
                        <a:t>sequence_transformer</a:t>
                      </a:r>
                      <a:endParaRPr lang="en-US" sz="800">
                        <a:effectLst/>
                      </a:endParaRPr>
                    </a:p>
                  </a:txBody>
                  <a:tcPr marL="19394" marR="19394" marT="9697" marB="9697" anchor="ctr">
                    <a:lnL>
                      <a:noFill/>
                    </a:lnL>
                    <a:lnR>
                      <a:noFill/>
                    </a:lnR>
                    <a:lnT>
                      <a:noFill/>
                    </a:lnT>
                    <a:lnB>
                      <a:noFill/>
                    </a:lnB>
                    <a:noFill/>
                  </a:tcPr>
                </a:tc>
                <a:tc>
                  <a:txBody>
                    <a:bodyPr/>
                    <a:lstStyle/>
                    <a:p>
                      <a:pPr>
                        <a:buNone/>
                      </a:pPr>
                      <a:r>
                        <a:rPr lang="en-US" sz="800">
                          <a:effectLst/>
                        </a:rPr>
                        <a:t>BERT-style MLM over discrete command tokens</a:t>
                      </a:r>
                    </a:p>
                  </a:txBody>
                  <a:tcPr marL="19394" marR="19394" marT="9697" marB="9697" anchor="ctr">
                    <a:lnL>
                      <a:noFill/>
                    </a:lnL>
                    <a:lnR>
                      <a:noFill/>
                    </a:lnR>
                    <a:lnT>
                      <a:noFill/>
                    </a:lnT>
                    <a:lnB>
                      <a:noFill/>
                    </a:lnB>
                    <a:noFill/>
                  </a:tcPr>
                </a:tc>
                <a:tc>
                  <a:txBody>
                    <a:bodyPr/>
                    <a:lstStyle/>
                    <a:p>
                      <a:pPr>
                        <a:buNone/>
                      </a:pPr>
                      <a:r>
                        <a:rPr lang="en-US" sz="800">
                          <a:effectLst/>
                        </a:rPr>
                        <a:t>Phase 8</a:t>
                      </a:r>
                    </a:p>
                  </a:txBody>
                  <a:tcPr marL="19394" marR="19394" marT="9697" marB="9697" anchor="ctr">
                    <a:lnL>
                      <a:noFill/>
                    </a:lnL>
                    <a:lnR>
                      <a:noFill/>
                    </a:lnR>
                    <a:lnT>
                      <a:noFill/>
                    </a:lnT>
                    <a:lnB>
                      <a:noFill/>
                    </a:lnB>
                    <a:noFill/>
                  </a:tcPr>
                </a:tc>
                <a:tc>
                  <a:txBody>
                    <a:bodyPr/>
                    <a:lstStyle/>
                    <a:p>
                      <a:pPr>
                        <a:buNone/>
                      </a:pPr>
                      <a:r>
                        <a:rPr lang="en-US" sz="800" dirty="0">
                          <a:effectLst/>
                        </a:rPr>
                        <a:t>3080 / A5000</a:t>
                      </a:r>
                    </a:p>
                  </a:txBody>
                  <a:tcPr marL="19394" marR="19394" marT="9697" marB="9697" anchor="ctr">
                    <a:lnL>
                      <a:noFill/>
                    </a:lnL>
                    <a:lnR>
                      <a:noFill/>
                    </a:lnR>
                    <a:lnT>
                      <a:noFill/>
                    </a:lnT>
                    <a:lnB>
                      <a:noFill/>
                    </a:lnB>
                    <a:noFill/>
                  </a:tcPr>
                </a:tc>
                <a:tc>
                  <a:txBody>
                    <a:bodyPr/>
                    <a:lstStyle/>
                    <a:p>
                      <a:pPr algn="ctr">
                        <a:buNone/>
                      </a:pPr>
                      <a:r>
                        <a:rPr lang="en-US" sz="800">
                          <a:effectLst/>
                        </a:rPr>
                        <a:t>n/a (discrete)</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extLst>
                  <a:ext uri="{0D108BD9-81ED-4DB2-BD59-A6C34878D82A}">
                    <a16:rowId xmlns:a16="http://schemas.microsoft.com/office/drawing/2014/main" val="2328118348"/>
                  </a:ext>
                </a:extLst>
              </a:tr>
              <a:tr h="244089">
                <a:tc>
                  <a:txBody>
                    <a:bodyPr/>
                    <a:lstStyle/>
                    <a:p>
                      <a:pPr>
                        <a:buNone/>
                      </a:pPr>
                      <a:r>
                        <a:rPr lang="en-US" sz="800" b="1" u="none" strike="noStrike" dirty="0" err="1">
                          <a:solidFill>
                            <a:srgbClr val="48A0C7"/>
                          </a:solidFill>
                          <a:effectLst/>
                          <a:latin typeface="Consolas" panose="020B0609020204030204" pitchFamily="49" charset="0"/>
                          <a:hlinkClick r:id="rId6"/>
                        </a:rPr>
                        <a:t>OperatorFingerprintDetector</a:t>
                      </a:r>
                      <a:endParaRPr lang="en-US" sz="800" b="1" dirty="0">
                        <a:effectLst/>
                      </a:endParaRPr>
                    </a:p>
                  </a:txBody>
                  <a:tcPr marL="19394" marR="19394" marT="9697" marB="9697" anchor="ctr">
                    <a:lnL>
                      <a:noFill/>
                    </a:lnL>
                    <a:lnR>
                      <a:noFill/>
                    </a:lnR>
                    <a:lnT>
                      <a:noFill/>
                    </a:lnT>
                    <a:lnB>
                      <a:noFill/>
                    </a:lnB>
                    <a:noFill/>
                  </a:tcPr>
                </a:tc>
                <a:tc>
                  <a:txBody>
                    <a:bodyPr/>
                    <a:lstStyle/>
                    <a:p>
                      <a:pPr>
                        <a:buNone/>
                      </a:pPr>
                      <a:r>
                        <a:rPr lang="en-US" sz="800">
                          <a:solidFill>
                            <a:srgbClr val="8C8C8C"/>
                          </a:solidFill>
                          <a:effectLst/>
                          <a:latin typeface="Consolas" panose="020B0609020204030204" pitchFamily="49" charset="0"/>
                        </a:rPr>
                        <a:t>operator_fingerprint</a:t>
                      </a:r>
                      <a:endParaRPr lang="en-US" sz="800">
                        <a:effectLst/>
                      </a:endParaRPr>
                    </a:p>
                  </a:txBody>
                  <a:tcPr marL="19394" marR="19394" marT="9697" marB="9697" anchor="ctr">
                    <a:lnL>
                      <a:noFill/>
                    </a:lnL>
                    <a:lnR>
                      <a:noFill/>
                    </a:lnR>
                    <a:lnT>
                      <a:noFill/>
                    </a:lnT>
                    <a:lnB>
                      <a:noFill/>
                    </a:lnB>
                    <a:noFill/>
                  </a:tcPr>
                </a:tc>
                <a:tc>
                  <a:txBody>
                    <a:bodyPr/>
                    <a:lstStyle/>
                    <a:p>
                      <a:pPr>
                        <a:buNone/>
                      </a:pPr>
                      <a:r>
                        <a:rPr lang="en-US" sz="800">
                          <a:effectLst/>
                        </a:rPr>
                        <a:t>Mahalanobis distance vs per-operator baseline</a:t>
                      </a:r>
                    </a:p>
                  </a:txBody>
                  <a:tcPr marL="19394" marR="19394" marT="9697" marB="9697" anchor="ctr">
                    <a:lnL>
                      <a:noFill/>
                    </a:lnL>
                    <a:lnR>
                      <a:noFill/>
                    </a:lnR>
                    <a:lnT>
                      <a:noFill/>
                    </a:lnT>
                    <a:lnB>
                      <a:noFill/>
                    </a:lnB>
                    <a:noFill/>
                  </a:tcPr>
                </a:tc>
                <a:tc>
                  <a:txBody>
                    <a:bodyPr/>
                    <a:lstStyle/>
                    <a:p>
                      <a:pPr>
                        <a:buNone/>
                      </a:pPr>
                      <a:r>
                        <a:rPr lang="en-US" sz="800">
                          <a:effectLst/>
                        </a:rPr>
                        <a:t>Phase 8</a:t>
                      </a:r>
                    </a:p>
                  </a:txBody>
                  <a:tcPr marL="19394" marR="19394" marT="9697" marB="9697" anchor="ctr">
                    <a:lnL>
                      <a:noFill/>
                    </a:lnL>
                    <a:lnR>
                      <a:noFill/>
                    </a:lnR>
                    <a:lnT>
                      <a:noFill/>
                    </a:lnT>
                    <a:lnB>
                      <a:noFill/>
                    </a:lnB>
                    <a:noFill/>
                  </a:tcPr>
                </a:tc>
                <a:tc>
                  <a:txBody>
                    <a:bodyPr/>
                    <a:lstStyle/>
                    <a:p>
                      <a:pPr>
                        <a:buNone/>
                      </a:pPr>
                      <a:r>
                        <a:rPr lang="en-US" sz="800">
                          <a:effectLst/>
                        </a:rPr>
                        <a:t>CPU / 3080</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tc>
                  <a:txBody>
                    <a:bodyPr/>
                    <a:lstStyle/>
                    <a:p>
                      <a:pPr algn="ctr">
                        <a:buNone/>
                      </a:pPr>
                      <a:r>
                        <a:rPr lang="en-US" sz="800">
                          <a:effectLst/>
                        </a:rPr>
                        <a:t>per-window</a:t>
                      </a:r>
                    </a:p>
                  </a:txBody>
                  <a:tcPr marL="19394" marR="19394" marT="9697" marB="9697" anchor="ctr">
                    <a:lnL>
                      <a:noFill/>
                    </a:lnL>
                    <a:lnR>
                      <a:noFill/>
                    </a:lnR>
                    <a:lnT>
                      <a:noFill/>
                    </a:lnT>
                    <a:lnB>
                      <a:noFill/>
                    </a:lnB>
                    <a:noFill/>
                  </a:tcPr>
                </a:tc>
                <a:extLst>
                  <a:ext uri="{0D108BD9-81ED-4DB2-BD59-A6C34878D82A}">
                    <a16:rowId xmlns:a16="http://schemas.microsoft.com/office/drawing/2014/main" val="4246964299"/>
                  </a:ext>
                </a:extLst>
              </a:tr>
              <a:tr h="244089">
                <a:tc>
                  <a:txBody>
                    <a:bodyPr/>
                    <a:lstStyle/>
                    <a:p>
                      <a:pPr>
                        <a:buNone/>
                      </a:pPr>
                      <a:r>
                        <a:rPr lang="en-US" sz="800" b="1" u="none" strike="noStrike">
                          <a:solidFill>
                            <a:srgbClr val="48A0C7"/>
                          </a:solidFill>
                          <a:effectLst/>
                          <a:latin typeface="Consolas" panose="020B0609020204030204" pitchFamily="49" charset="0"/>
                          <a:hlinkClick r:id="rId5"/>
                        </a:rPr>
                        <a:t>ThermalPinn</a:t>
                      </a:r>
                      <a:endParaRPr lang="en-US" sz="800" b="1">
                        <a:effectLst/>
                      </a:endParaRPr>
                    </a:p>
                  </a:txBody>
                  <a:tcPr marL="19394" marR="19394" marT="9697" marB="9697" anchor="ctr">
                    <a:lnL>
                      <a:noFill/>
                    </a:lnL>
                    <a:lnR>
                      <a:noFill/>
                    </a:lnR>
                    <a:lnT>
                      <a:noFill/>
                    </a:lnT>
                    <a:lnB>
                      <a:noFill/>
                    </a:lnB>
                    <a:noFill/>
                  </a:tcPr>
                </a:tc>
                <a:tc>
                  <a:txBody>
                    <a:bodyPr/>
                    <a:lstStyle/>
                    <a:p>
                      <a:pPr>
                        <a:buNone/>
                      </a:pPr>
                      <a:r>
                        <a:rPr lang="en-US" sz="800">
                          <a:solidFill>
                            <a:srgbClr val="8C8C8C"/>
                          </a:solidFill>
                          <a:effectLst/>
                          <a:latin typeface="Consolas" panose="020B0609020204030204" pitchFamily="49" charset="0"/>
                        </a:rPr>
                        <a:t>thermal_pinn_torch</a:t>
                      </a:r>
                      <a:endParaRPr lang="en-US" sz="800">
                        <a:effectLst/>
                      </a:endParaRPr>
                    </a:p>
                  </a:txBody>
                  <a:tcPr marL="19394" marR="19394" marT="9697" marB="9697" anchor="ctr">
                    <a:lnL>
                      <a:noFill/>
                    </a:lnL>
                    <a:lnR>
                      <a:noFill/>
                    </a:lnR>
                    <a:lnT>
                      <a:noFill/>
                    </a:lnT>
                    <a:lnB>
                      <a:noFill/>
                    </a:lnB>
                    <a:noFill/>
                  </a:tcPr>
                </a:tc>
                <a:tc>
                  <a:txBody>
                    <a:bodyPr/>
                    <a:lstStyle/>
                    <a:p>
                      <a:pPr>
                        <a:buNone/>
                      </a:pPr>
                      <a:r>
                        <a:rPr lang="en-US" sz="800">
                          <a:effectLst/>
                        </a:rPr>
                        <a:t>Trainable thermal PINN (1D conduction)</a:t>
                      </a:r>
                    </a:p>
                  </a:txBody>
                  <a:tcPr marL="19394" marR="19394" marT="9697" marB="9697" anchor="ctr">
                    <a:lnL>
                      <a:noFill/>
                    </a:lnL>
                    <a:lnR>
                      <a:noFill/>
                    </a:lnR>
                    <a:lnT>
                      <a:noFill/>
                    </a:lnT>
                    <a:lnB>
                      <a:noFill/>
                    </a:lnB>
                    <a:noFill/>
                  </a:tcPr>
                </a:tc>
                <a:tc>
                  <a:txBody>
                    <a:bodyPr/>
                    <a:lstStyle/>
                    <a:p>
                      <a:pPr>
                        <a:buNone/>
                      </a:pPr>
                      <a:r>
                        <a:rPr lang="en-US" sz="800">
                          <a:effectLst/>
                        </a:rPr>
                        <a:t>Phase 9</a:t>
                      </a:r>
                    </a:p>
                  </a:txBody>
                  <a:tcPr marL="19394" marR="19394" marT="9697" marB="9697" anchor="ctr">
                    <a:lnL>
                      <a:noFill/>
                    </a:lnL>
                    <a:lnR>
                      <a:noFill/>
                    </a:lnR>
                    <a:lnT>
                      <a:noFill/>
                    </a:lnT>
                    <a:lnB>
                      <a:noFill/>
                    </a:lnB>
                    <a:noFill/>
                  </a:tcPr>
                </a:tc>
                <a:tc>
                  <a:txBody>
                    <a:bodyPr/>
                    <a:lstStyle/>
                    <a:p>
                      <a:pPr>
                        <a:buNone/>
                      </a:pPr>
                      <a:r>
                        <a:rPr lang="en-US" sz="800">
                          <a:effectLst/>
                        </a:rPr>
                        <a:t>A5000 / H200</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extLst>
                  <a:ext uri="{0D108BD9-81ED-4DB2-BD59-A6C34878D82A}">
                    <a16:rowId xmlns:a16="http://schemas.microsoft.com/office/drawing/2014/main" val="3885290834"/>
                  </a:ext>
                </a:extLst>
              </a:tr>
              <a:tr h="300238">
                <a:tc>
                  <a:txBody>
                    <a:bodyPr/>
                    <a:lstStyle/>
                    <a:p>
                      <a:pPr>
                        <a:buNone/>
                      </a:pPr>
                      <a:r>
                        <a:rPr lang="en-US" sz="800" b="1" u="none" strike="noStrike">
                          <a:solidFill>
                            <a:srgbClr val="48A0C7"/>
                          </a:solidFill>
                          <a:effectLst/>
                          <a:latin typeface="Consolas" panose="020B0609020204030204" pitchFamily="49" charset="0"/>
                          <a:hlinkClick r:id="rId7"/>
                        </a:rPr>
                        <a:t>AdcsPinn</a:t>
                      </a:r>
                      <a:endParaRPr lang="en-US" sz="800" b="1">
                        <a:effectLst/>
                      </a:endParaRPr>
                    </a:p>
                  </a:txBody>
                  <a:tcPr marL="19394" marR="19394" marT="9697" marB="9697" anchor="ctr">
                    <a:lnL>
                      <a:noFill/>
                    </a:lnL>
                    <a:lnR>
                      <a:noFill/>
                    </a:lnR>
                    <a:lnT>
                      <a:noFill/>
                    </a:lnT>
                    <a:lnB>
                      <a:noFill/>
                    </a:lnB>
                    <a:noFill/>
                  </a:tcPr>
                </a:tc>
                <a:tc>
                  <a:txBody>
                    <a:bodyPr/>
                    <a:lstStyle/>
                    <a:p>
                      <a:pPr>
                        <a:buNone/>
                      </a:pPr>
                      <a:r>
                        <a:rPr lang="en-US" sz="800">
                          <a:solidFill>
                            <a:srgbClr val="8C8C8C"/>
                          </a:solidFill>
                          <a:effectLst/>
                          <a:latin typeface="Consolas" panose="020B0609020204030204" pitchFamily="49" charset="0"/>
                        </a:rPr>
                        <a:t>adcs_pinn</a:t>
                      </a:r>
                      <a:endParaRPr lang="en-US" sz="800">
                        <a:effectLst/>
                      </a:endParaRPr>
                    </a:p>
                  </a:txBody>
                  <a:tcPr marL="19394" marR="19394" marT="9697" marB="9697" anchor="ctr">
                    <a:lnL>
                      <a:noFill/>
                    </a:lnL>
                    <a:lnR>
                      <a:noFill/>
                    </a:lnR>
                    <a:lnT>
                      <a:noFill/>
                    </a:lnT>
                    <a:lnB>
                      <a:noFill/>
                    </a:lnB>
                    <a:noFill/>
                  </a:tcPr>
                </a:tc>
                <a:tc>
                  <a:txBody>
                    <a:bodyPr/>
                    <a:lstStyle/>
                    <a:p>
                      <a:pPr>
                        <a:buNone/>
                      </a:pPr>
                      <a:r>
                        <a:rPr lang="en-US" sz="800">
                          <a:effectLst/>
                        </a:rPr>
                        <a:t>Attitude PINN with 3 SO(3) integrator variants</a:t>
                      </a:r>
                    </a:p>
                  </a:txBody>
                  <a:tcPr marL="19394" marR="19394" marT="9697" marB="9697" anchor="ctr">
                    <a:lnL>
                      <a:noFill/>
                    </a:lnL>
                    <a:lnR>
                      <a:noFill/>
                    </a:lnR>
                    <a:lnT>
                      <a:noFill/>
                    </a:lnT>
                    <a:lnB>
                      <a:noFill/>
                    </a:lnB>
                    <a:noFill/>
                  </a:tcPr>
                </a:tc>
                <a:tc>
                  <a:txBody>
                    <a:bodyPr/>
                    <a:lstStyle/>
                    <a:p>
                      <a:pPr>
                        <a:buNone/>
                      </a:pPr>
                      <a:r>
                        <a:rPr lang="en-US" sz="800">
                          <a:effectLst/>
                        </a:rPr>
                        <a:t>Phase 9</a:t>
                      </a:r>
                    </a:p>
                  </a:txBody>
                  <a:tcPr marL="19394" marR="19394" marT="9697" marB="9697" anchor="ctr">
                    <a:lnL>
                      <a:noFill/>
                    </a:lnL>
                    <a:lnR>
                      <a:noFill/>
                    </a:lnR>
                    <a:lnT>
                      <a:noFill/>
                    </a:lnT>
                    <a:lnB>
                      <a:noFill/>
                    </a:lnB>
                    <a:noFill/>
                  </a:tcPr>
                </a:tc>
                <a:tc>
                  <a:txBody>
                    <a:bodyPr/>
                    <a:lstStyle/>
                    <a:p>
                      <a:pPr>
                        <a:buNone/>
                      </a:pPr>
                      <a:r>
                        <a:rPr lang="en-US" sz="800">
                          <a:effectLst/>
                        </a:rPr>
                        <a:t>A5000 / H200</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extLst>
                  <a:ext uri="{0D108BD9-81ED-4DB2-BD59-A6C34878D82A}">
                    <a16:rowId xmlns:a16="http://schemas.microsoft.com/office/drawing/2014/main" val="1539006188"/>
                  </a:ext>
                </a:extLst>
              </a:tr>
              <a:tr h="300238">
                <a:tc>
                  <a:txBody>
                    <a:bodyPr/>
                    <a:lstStyle/>
                    <a:p>
                      <a:pPr>
                        <a:buNone/>
                      </a:pPr>
                      <a:r>
                        <a:rPr lang="en-US" sz="800" b="1" u="none" strike="noStrike" dirty="0" err="1">
                          <a:solidFill>
                            <a:srgbClr val="48A0C7"/>
                          </a:solidFill>
                          <a:effectLst/>
                          <a:latin typeface="Consolas" panose="020B0609020204030204" pitchFamily="49" charset="0"/>
                          <a:hlinkClick r:id="rId3"/>
                        </a:rPr>
                        <a:t>SatMultiModalDetector</a:t>
                      </a:r>
                      <a:endParaRPr lang="en-US" sz="800" b="1" dirty="0">
                        <a:effectLst/>
                      </a:endParaRPr>
                    </a:p>
                  </a:txBody>
                  <a:tcPr marL="19394" marR="19394" marT="9697" marB="9697" anchor="ctr">
                    <a:lnL>
                      <a:noFill/>
                    </a:lnL>
                    <a:lnR>
                      <a:noFill/>
                    </a:lnR>
                    <a:lnT>
                      <a:noFill/>
                    </a:lnT>
                    <a:lnB>
                      <a:noFill/>
                    </a:lnB>
                    <a:noFill/>
                  </a:tcPr>
                </a:tc>
                <a:tc>
                  <a:txBody>
                    <a:bodyPr/>
                    <a:lstStyle/>
                    <a:p>
                      <a:pPr>
                        <a:buNone/>
                      </a:pPr>
                      <a:r>
                        <a:rPr lang="en-US" sz="800">
                          <a:solidFill>
                            <a:srgbClr val="8C8C8C"/>
                          </a:solidFill>
                          <a:effectLst/>
                          <a:latin typeface="Consolas" panose="020B0609020204030204" pitchFamily="49" charset="0"/>
                        </a:rPr>
                        <a:t>sat_multimodal</a:t>
                      </a:r>
                      <a:endParaRPr lang="en-US" sz="800">
                        <a:effectLst/>
                      </a:endParaRPr>
                    </a:p>
                  </a:txBody>
                  <a:tcPr marL="19394" marR="19394" marT="9697" marB="9697" anchor="ctr">
                    <a:lnL>
                      <a:noFill/>
                    </a:lnL>
                    <a:lnR>
                      <a:noFill/>
                    </a:lnR>
                    <a:lnT>
                      <a:noFill/>
                    </a:lnT>
                    <a:lnB>
                      <a:noFill/>
                    </a:lnB>
                    <a:noFill/>
                  </a:tcPr>
                </a:tc>
                <a:tc>
                  <a:txBody>
                    <a:bodyPr/>
                    <a:lstStyle/>
                    <a:p>
                      <a:pPr>
                        <a:buNone/>
                      </a:pPr>
                      <a:r>
                        <a:rPr lang="en-US" sz="800">
                          <a:effectLst/>
                        </a:rPr>
                        <a:t>Three-stream (telem + cmd + log) cross-modal MAE</a:t>
                      </a:r>
                    </a:p>
                  </a:txBody>
                  <a:tcPr marL="19394" marR="19394" marT="9697" marB="9697" anchor="ctr">
                    <a:lnL>
                      <a:noFill/>
                    </a:lnL>
                    <a:lnR>
                      <a:noFill/>
                    </a:lnR>
                    <a:lnT>
                      <a:noFill/>
                    </a:lnT>
                    <a:lnB>
                      <a:noFill/>
                    </a:lnB>
                    <a:noFill/>
                  </a:tcPr>
                </a:tc>
                <a:tc>
                  <a:txBody>
                    <a:bodyPr/>
                    <a:lstStyle/>
                    <a:p>
                      <a:pPr>
                        <a:buNone/>
                      </a:pPr>
                      <a:r>
                        <a:rPr lang="en-US" sz="800">
                          <a:effectLst/>
                        </a:rPr>
                        <a:t>Phase 10</a:t>
                      </a:r>
                    </a:p>
                  </a:txBody>
                  <a:tcPr marL="19394" marR="19394" marT="9697" marB="9697" anchor="ctr">
                    <a:lnL>
                      <a:noFill/>
                    </a:lnL>
                    <a:lnR>
                      <a:noFill/>
                    </a:lnR>
                    <a:lnT>
                      <a:noFill/>
                    </a:lnT>
                    <a:lnB>
                      <a:noFill/>
                    </a:lnB>
                    <a:noFill/>
                  </a:tcPr>
                </a:tc>
                <a:tc>
                  <a:txBody>
                    <a:bodyPr/>
                    <a:lstStyle/>
                    <a:p>
                      <a:pPr>
                        <a:buNone/>
                      </a:pPr>
                      <a:r>
                        <a:rPr lang="en-US" sz="800">
                          <a:effectLst/>
                        </a:rPr>
                        <a:t>A5000 / H200 / 8x H200</a:t>
                      </a:r>
                    </a:p>
                  </a:txBody>
                  <a:tcPr marL="19394" marR="19394" marT="9697" marB="9697" anchor="ctr">
                    <a:lnL>
                      <a:noFill/>
                    </a:lnL>
                    <a:lnR>
                      <a:noFill/>
                    </a:lnR>
                    <a:lnT>
                      <a:noFill/>
                    </a:lnT>
                    <a:lnB>
                      <a:noFill/>
                    </a:lnB>
                    <a:noFill/>
                  </a:tcPr>
                </a:tc>
                <a:tc>
                  <a:txBody>
                    <a:bodyPr/>
                    <a:lstStyle/>
                    <a:p>
                      <a:pPr algn="ctr">
                        <a:buNone/>
                      </a:pPr>
                      <a:r>
                        <a:rPr lang="en-US" sz="800">
                          <a:effectLst/>
                        </a:rPr>
                        <a:t>✓</a:t>
                      </a:r>
                    </a:p>
                  </a:txBody>
                  <a:tcPr marL="19394" marR="19394" marT="9697" marB="9697" anchor="ctr">
                    <a:lnL>
                      <a:noFill/>
                    </a:lnL>
                    <a:lnR>
                      <a:noFill/>
                    </a:lnR>
                    <a:lnT>
                      <a:noFill/>
                    </a:lnT>
                    <a:lnB>
                      <a:noFill/>
                    </a:lnB>
                    <a:noFill/>
                  </a:tcPr>
                </a:tc>
                <a:tc>
                  <a:txBody>
                    <a:bodyPr/>
                    <a:lstStyle/>
                    <a:p>
                      <a:pPr algn="ctr">
                        <a:buNone/>
                      </a:pPr>
                      <a:r>
                        <a:rPr lang="en-US" sz="800" dirty="0">
                          <a:effectLst/>
                        </a:rPr>
                        <a:t>✓</a:t>
                      </a:r>
                    </a:p>
                  </a:txBody>
                  <a:tcPr marL="19394" marR="19394" marT="9697" marB="9697" anchor="ctr">
                    <a:lnL>
                      <a:noFill/>
                    </a:lnL>
                    <a:lnR>
                      <a:noFill/>
                    </a:lnR>
                    <a:lnT>
                      <a:noFill/>
                    </a:lnT>
                    <a:lnB>
                      <a:noFill/>
                    </a:lnB>
                    <a:noFill/>
                  </a:tcPr>
                </a:tc>
                <a:extLst>
                  <a:ext uri="{0D108BD9-81ED-4DB2-BD59-A6C34878D82A}">
                    <a16:rowId xmlns:a16="http://schemas.microsoft.com/office/drawing/2014/main" val="4022908070"/>
                  </a:ext>
                </a:extLst>
              </a:tr>
            </a:tbl>
          </a:graphicData>
        </a:graphic>
      </p:graphicFrame>
      <p:sp>
        <p:nvSpPr>
          <p:cNvPr id="5" name="TextBox 4">
            <a:extLst>
              <a:ext uri="{FF2B5EF4-FFF2-40B4-BE49-F238E27FC236}">
                <a16:creationId xmlns:a16="http://schemas.microsoft.com/office/drawing/2014/main" id="{9E9DDC7F-6241-36F2-E5EA-2FC34ECAA9CE}"/>
              </a:ext>
            </a:extLst>
          </p:cNvPr>
          <p:cNvSpPr txBox="1"/>
          <p:nvPr/>
        </p:nvSpPr>
        <p:spPr>
          <a:xfrm>
            <a:off x="646915" y="6231265"/>
            <a:ext cx="11056250" cy="523220"/>
          </a:xfrm>
          <a:prstGeom prst="rect">
            <a:avLst/>
          </a:prstGeom>
          <a:noFill/>
        </p:spPr>
        <p:txBody>
          <a:bodyPr wrap="square" rtlCol="0">
            <a:spAutoFit/>
          </a:bodyPr>
          <a:lstStyle/>
          <a:p>
            <a:r>
              <a:rPr lang="en-US" sz="1400" dirty="0"/>
              <a:t>(U) Time-series-foundation-model training candidates, currently being trained at factory,  ETC Aug ’26.  New, algorithms will provide advanced AI coverage in future HW configuration or GPU-enabled servers</a:t>
            </a:r>
          </a:p>
        </p:txBody>
      </p:sp>
      <p:sp>
        <p:nvSpPr>
          <p:cNvPr id="7" name="TextBox 6">
            <a:extLst>
              <a:ext uri="{FF2B5EF4-FFF2-40B4-BE49-F238E27FC236}">
                <a16:creationId xmlns:a16="http://schemas.microsoft.com/office/drawing/2014/main" id="{F5D5B9BE-31D4-9E35-6B93-1E59AAF3B21C}"/>
              </a:ext>
            </a:extLst>
          </p:cNvPr>
          <p:cNvSpPr txBox="1"/>
          <p:nvPr/>
        </p:nvSpPr>
        <p:spPr>
          <a:xfrm>
            <a:off x="9491783" y="5815766"/>
            <a:ext cx="1978026" cy="276999"/>
          </a:xfrm>
          <a:prstGeom prst="rect">
            <a:avLst/>
          </a:prstGeom>
          <a:noFill/>
        </p:spPr>
        <p:txBody>
          <a:bodyPr wrap="square" rtlCol="0">
            <a:spAutoFit/>
          </a:bodyPr>
          <a:lstStyle/>
          <a:p>
            <a:pPr algn="r"/>
            <a:r>
              <a:rPr lang="en-US" sz="1200" dirty="0"/>
              <a:t>Table is (U) </a:t>
            </a:r>
          </a:p>
        </p:txBody>
      </p:sp>
    </p:spTree>
    <p:extLst>
      <p:ext uri="{BB962C8B-B14F-4D97-AF65-F5344CB8AC3E}">
        <p14:creationId xmlns:p14="http://schemas.microsoft.com/office/powerpoint/2010/main" val="2951134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715F0-567C-2C30-B2ED-5FEDF1F19375}"/>
              </a:ext>
            </a:extLst>
          </p:cNvPr>
          <p:cNvSpPr>
            <a:spLocks noGrp="1"/>
          </p:cNvSpPr>
          <p:nvPr>
            <p:ph type="title"/>
          </p:nvPr>
        </p:nvSpPr>
        <p:spPr/>
        <p:txBody>
          <a:bodyPr>
            <a:normAutofit/>
          </a:bodyPr>
          <a:lstStyle/>
          <a:p>
            <a:r>
              <a:rPr lang="en-US" sz="3600" dirty="0"/>
              <a:t>(U) Correlation Algorithms In-Progress</a:t>
            </a:r>
          </a:p>
        </p:txBody>
      </p:sp>
      <p:graphicFrame>
        <p:nvGraphicFramePr>
          <p:cNvPr id="4" name="Content Placeholder 3">
            <a:extLst>
              <a:ext uri="{FF2B5EF4-FFF2-40B4-BE49-F238E27FC236}">
                <a16:creationId xmlns:a16="http://schemas.microsoft.com/office/drawing/2014/main" id="{4F280022-8EA5-F441-8FC0-7C5C80C2FE00}"/>
              </a:ext>
            </a:extLst>
          </p:cNvPr>
          <p:cNvGraphicFramePr>
            <a:graphicFrameLocks noGrp="1"/>
          </p:cNvGraphicFramePr>
          <p:nvPr>
            <p:ph idx="1"/>
            <p:extLst>
              <p:ext uri="{D42A27DB-BD31-4B8C-83A1-F6EECF244321}">
                <p14:modId xmlns:p14="http://schemas.microsoft.com/office/powerpoint/2010/main" val="1636711683"/>
              </p:ext>
            </p:extLst>
          </p:nvPr>
        </p:nvGraphicFramePr>
        <p:xfrm>
          <a:off x="873124" y="1690688"/>
          <a:ext cx="10445752" cy="3891806"/>
        </p:xfrm>
        <a:graphic>
          <a:graphicData uri="http://schemas.openxmlformats.org/drawingml/2006/table">
            <a:tbl>
              <a:tblPr/>
              <a:tblGrid>
                <a:gridCol w="2611438">
                  <a:extLst>
                    <a:ext uri="{9D8B030D-6E8A-4147-A177-3AD203B41FA5}">
                      <a16:colId xmlns:a16="http://schemas.microsoft.com/office/drawing/2014/main" val="2222333374"/>
                    </a:ext>
                  </a:extLst>
                </a:gridCol>
                <a:gridCol w="2611438">
                  <a:extLst>
                    <a:ext uri="{9D8B030D-6E8A-4147-A177-3AD203B41FA5}">
                      <a16:colId xmlns:a16="http://schemas.microsoft.com/office/drawing/2014/main" val="433637992"/>
                    </a:ext>
                  </a:extLst>
                </a:gridCol>
                <a:gridCol w="2611438">
                  <a:extLst>
                    <a:ext uri="{9D8B030D-6E8A-4147-A177-3AD203B41FA5}">
                      <a16:colId xmlns:a16="http://schemas.microsoft.com/office/drawing/2014/main" val="1900052826"/>
                    </a:ext>
                  </a:extLst>
                </a:gridCol>
                <a:gridCol w="2611438">
                  <a:extLst>
                    <a:ext uri="{9D8B030D-6E8A-4147-A177-3AD203B41FA5}">
                      <a16:colId xmlns:a16="http://schemas.microsoft.com/office/drawing/2014/main" val="1240436185"/>
                    </a:ext>
                  </a:extLst>
                </a:gridCol>
              </a:tblGrid>
              <a:tr h="107572">
                <a:tc>
                  <a:txBody>
                    <a:bodyPr/>
                    <a:lstStyle/>
                    <a:p>
                      <a:pPr algn="ctr" fontAlgn="t">
                        <a:buNone/>
                      </a:pPr>
                      <a:r>
                        <a:rPr lang="en-US" sz="1000" b="1" dirty="0">
                          <a:effectLst/>
                        </a:rPr>
                        <a:t>Name</a:t>
                      </a:r>
                    </a:p>
                  </a:txBody>
                  <a:tcPr marL="18070" marR="18070" marT="18070" marB="18070">
                    <a:lnL>
                      <a:noFill/>
                    </a:lnL>
                    <a:lnR>
                      <a:noFill/>
                    </a:lnR>
                    <a:lnT>
                      <a:noFill/>
                    </a:lnT>
                    <a:lnB>
                      <a:noFill/>
                    </a:lnB>
                    <a:solidFill>
                      <a:schemeClr val="bg1">
                        <a:lumMod val="85000"/>
                      </a:schemeClr>
                    </a:solidFill>
                  </a:tcPr>
                </a:tc>
                <a:tc>
                  <a:txBody>
                    <a:bodyPr/>
                    <a:lstStyle/>
                    <a:p>
                      <a:pPr algn="ctr" fontAlgn="t">
                        <a:buNone/>
                      </a:pPr>
                      <a:r>
                        <a:rPr lang="en-US" sz="1000" b="1">
                          <a:effectLst/>
                        </a:rPr>
                        <a:t>File</a:t>
                      </a:r>
                    </a:p>
                  </a:txBody>
                  <a:tcPr marL="18070" marR="18070" marT="18070" marB="18070">
                    <a:lnL>
                      <a:noFill/>
                    </a:lnL>
                    <a:lnR>
                      <a:noFill/>
                    </a:lnR>
                    <a:lnT>
                      <a:noFill/>
                    </a:lnT>
                    <a:lnB>
                      <a:noFill/>
                    </a:lnB>
                    <a:solidFill>
                      <a:schemeClr val="bg1">
                        <a:lumMod val="85000"/>
                      </a:schemeClr>
                    </a:solidFill>
                  </a:tcPr>
                </a:tc>
                <a:tc>
                  <a:txBody>
                    <a:bodyPr/>
                    <a:lstStyle/>
                    <a:p>
                      <a:pPr algn="ctr" fontAlgn="t">
                        <a:buNone/>
                      </a:pPr>
                      <a:r>
                        <a:rPr lang="en-US" sz="1000" b="1">
                          <a:effectLst/>
                        </a:rPr>
                        <a:t>Idea</a:t>
                      </a:r>
                    </a:p>
                  </a:txBody>
                  <a:tcPr marL="18070" marR="18070" marT="18070" marB="18070">
                    <a:lnL>
                      <a:noFill/>
                    </a:lnL>
                    <a:lnR>
                      <a:noFill/>
                    </a:lnR>
                    <a:lnT>
                      <a:noFill/>
                    </a:lnT>
                    <a:lnB>
                      <a:noFill/>
                    </a:lnB>
                    <a:solidFill>
                      <a:schemeClr val="bg1">
                        <a:lumMod val="85000"/>
                      </a:schemeClr>
                    </a:solidFill>
                  </a:tcPr>
                </a:tc>
                <a:tc>
                  <a:txBody>
                    <a:bodyPr/>
                    <a:lstStyle/>
                    <a:p>
                      <a:pPr algn="ctr" fontAlgn="t">
                        <a:buNone/>
                      </a:pPr>
                      <a:r>
                        <a:rPr lang="en-US" sz="1000" b="1" dirty="0">
                          <a:effectLst/>
                        </a:rPr>
                        <a:t>Key params</a:t>
                      </a:r>
                    </a:p>
                  </a:txBody>
                  <a:tcPr marL="18070" marR="18070" marT="18070" marB="18070">
                    <a:lnL>
                      <a:noFill/>
                    </a:lnL>
                    <a:lnR>
                      <a:noFill/>
                    </a:lnR>
                    <a:lnT>
                      <a:noFill/>
                    </a:lnT>
                    <a:lnB>
                      <a:noFill/>
                    </a:lnB>
                    <a:solidFill>
                      <a:schemeClr val="bg1">
                        <a:lumMod val="85000"/>
                      </a:schemeClr>
                    </a:solidFill>
                  </a:tcPr>
                </a:tc>
                <a:extLst>
                  <a:ext uri="{0D108BD9-81ED-4DB2-BD59-A6C34878D82A}">
                    <a16:rowId xmlns:a16="http://schemas.microsoft.com/office/drawing/2014/main" val="2216151267"/>
                  </a:ext>
                </a:extLst>
              </a:tr>
              <a:tr h="459360">
                <a:tc>
                  <a:txBody>
                    <a:bodyPr/>
                    <a:lstStyle/>
                    <a:p>
                      <a:pPr algn="l" fontAlgn="t">
                        <a:buNone/>
                      </a:pPr>
                      <a:r>
                        <a:rPr lang="en-US" sz="1050" b="1" dirty="0" err="1">
                          <a:solidFill>
                            <a:srgbClr val="0A0A0A"/>
                          </a:solidFill>
                          <a:effectLst/>
                          <a:latin typeface="Anthropic Mono"/>
                        </a:rPr>
                        <a:t>RollingCorr</a:t>
                      </a:r>
                      <a:endParaRPr lang="en-US" sz="1050" b="1" dirty="0">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solidFill>
                            <a:srgbClr val="0A0A0A"/>
                          </a:solidFill>
                          <a:effectLst/>
                          <a:latin typeface="Anthropic Mono"/>
                        </a:rPr>
                        <a:t>model_rolling_corr.py</a:t>
                      </a:r>
                      <a:endParaRPr lang="en-US" sz="1000">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effectLst/>
                        </a:rPr>
                        <a:t>Frobenius norm of (window corr − baseline corr)</a:t>
                      </a:r>
                    </a:p>
                  </a:txBody>
                  <a:tcPr marL="18070" marR="18070" marT="18070" marB="18070">
                    <a:lnL>
                      <a:noFill/>
                    </a:lnL>
                    <a:lnR>
                      <a:noFill/>
                    </a:lnR>
                    <a:lnT>
                      <a:noFill/>
                    </a:lnT>
                    <a:lnB>
                      <a:noFill/>
                    </a:lnB>
                    <a:solidFill>
                      <a:srgbClr val="FDFDFC"/>
                    </a:solidFill>
                  </a:tcPr>
                </a:tc>
                <a:tc>
                  <a:txBody>
                    <a:bodyPr/>
                    <a:lstStyle/>
                    <a:p>
                      <a:pPr algn="l" fontAlgn="t">
                        <a:buNone/>
                      </a:pPr>
                      <a:r>
                        <a:rPr lang="en-US" sz="1000">
                          <a:solidFill>
                            <a:srgbClr val="0A0A0A"/>
                          </a:solidFill>
                          <a:effectLst/>
                          <a:latin typeface="Anthropic Mono"/>
                        </a:rPr>
                        <a:t>window</a:t>
                      </a:r>
                      <a:endParaRPr lang="en-US" sz="1000">
                        <a:effectLst/>
                      </a:endParaRPr>
                    </a:p>
                  </a:txBody>
                  <a:tcPr marL="18070" marR="18070" marT="18070" marB="18070">
                    <a:lnL>
                      <a:noFill/>
                    </a:lnL>
                    <a:lnR>
                      <a:noFill/>
                    </a:lnR>
                    <a:lnT>
                      <a:noFill/>
                    </a:lnT>
                    <a:lnB>
                      <a:noFill/>
                    </a:lnB>
                    <a:solidFill>
                      <a:srgbClr val="FDFDFC"/>
                    </a:solidFill>
                  </a:tcPr>
                </a:tc>
                <a:extLst>
                  <a:ext uri="{0D108BD9-81ED-4DB2-BD59-A6C34878D82A}">
                    <a16:rowId xmlns:a16="http://schemas.microsoft.com/office/drawing/2014/main" val="3510857285"/>
                  </a:ext>
                </a:extLst>
              </a:tr>
              <a:tr h="531188">
                <a:tc>
                  <a:txBody>
                    <a:bodyPr/>
                    <a:lstStyle/>
                    <a:p>
                      <a:pPr algn="l" fontAlgn="t">
                        <a:buNone/>
                      </a:pPr>
                      <a:r>
                        <a:rPr lang="en-US" sz="1050" b="1">
                          <a:solidFill>
                            <a:srgbClr val="0A0A0A"/>
                          </a:solidFill>
                          <a:effectLst/>
                          <a:latin typeface="Anthropic Mono"/>
                        </a:rPr>
                        <a:t>MahalanobisCorr</a:t>
                      </a:r>
                      <a:endParaRPr lang="en-US" sz="1050" b="1">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dirty="0">
                          <a:solidFill>
                            <a:srgbClr val="0A0A0A"/>
                          </a:solidFill>
                          <a:effectLst/>
                          <a:latin typeface="Anthropic Mono"/>
                        </a:rPr>
                        <a:t>model_mahalanobis_corr.py</a:t>
                      </a:r>
                      <a:endParaRPr lang="en-US" sz="1000" dirty="0">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effectLst/>
                        </a:rPr>
                        <a:t>Mahalanobis distance in PCA-reduced correlation-eigenvalue space</a:t>
                      </a:r>
                    </a:p>
                  </a:txBody>
                  <a:tcPr marL="18070" marR="18070" marT="18070" marB="18070">
                    <a:lnL>
                      <a:noFill/>
                    </a:lnL>
                    <a:lnR>
                      <a:noFill/>
                    </a:lnR>
                    <a:lnT>
                      <a:noFill/>
                    </a:lnT>
                    <a:lnB>
                      <a:noFill/>
                    </a:lnB>
                    <a:solidFill>
                      <a:srgbClr val="FDFDFC"/>
                    </a:solidFill>
                  </a:tcPr>
                </a:tc>
                <a:tc>
                  <a:txBody>
                    <a:bodyPr/>
                    <a:lstStyle/>
                    <a:p>
                      <a:pPr algn="l" fontAlgn="t">
                        <a:buNone/>
                      </a:pPr>
                      <a:r>
                        <a:rPr lang="en-US" sz="1000">
                          <a:solidFill>
                            <a:srgbClr val="0A0A0A"/>
                          </a:solidFill>
                          <a:effectLst/>
                          <a:latin typeface="Anthropic Mono"/>
                        </a:rPr>
                        <a:t>window, k, pca_dim, stride</a:t>
                      </a:r>
                      <a:endParaRPr lang="en-US" sz="1000">
                        <a:effectLst/>
                      </a:endParaRPr>
                    </a:p>
                  </a:txBody>
                  <a:tcPr marL="18070" marR="18070" marT="18070" marB="18070">
                    <a:lnL>
                      <a:noFill/>
                    </a:lnL>
                    <a:lnR>
                      <a:noFill/>
                    </a:lnR>
                    <a:lnT>
                      <a:noFill/>
                    </a:lnT>
                    <a:lnB>
                      <a:noFill/>
                    </a:lnB>
                    <a:solidFill>
                      <a:srgbClr val="FDFDFC"/>
                    </a:solidFill>
                  </a:tcPr>
                </a:tc>
                <a:extLst>
                  <a:ext uri="{0D108BD9-81ED-4DB2-BD59-A6C34878D82A}">
                    <a16:rowId xmlns:a16="http://schemas.microsoft.com/office/drawing/2014/main" val="2606121427"/>
                  </a:ext>
                </a:extLst>
              </a:tr>
              <a:tr h="387531">
                <a:tc>
                  <a:txBody>
                    <a:bodyPr/>
                    <a:lstStyle/>
                    <a:p>
                      <a:pPr algn="l" fontAlgn="t">
                        <a:buNone/>
                      </a:pPr>
                      <a:r>
                        <a:rPr lang="en-US" sz="1050" b="1" dirty="0" err="1">
                          <a:solidFill>
                            <a:srgbClr val="0A0A0A"/>
                          </a:solidFill>
                          <a:effectLst/>
                          <a:latin typeface="Anthropic Mono"/>
                        </a:rPr>
                        <a:t>PCA_Full</a:t>
                      </a:r>
                      <a:endParaRPr lang="en-US" sz="1050" b="1" dirty="0">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solidFill>
                            <a:srgbClr val="0A0A0A"/>
                          </a:solidFill>
                          <a:effectLst/>
                          <a:latin typeface="Anthropic Mono"/>
                        </a:rPr>
                        <a:t>model_pca_eigen_shift.py</a:t>
                      </a:r>
                      <a:endParaRPr lang="en-US" sz="1000">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effectLst/>
                        </a:rPr>
                        <a:t>L2 drift of explained-variance spectrum (full SVD)</a:t>
                      </a:r>
                    </a:p>
                  </a:txBody>
                  <a:tcPr marL="18070" marR="18070" marT="18070" marB="18070">
                    <a:lnL>
                      <a:noFill/>
                    </a:lnL>
                    <a:lnR>
                      <a:noFill/>
                    </a:lnR>
                    <a:lnT>
                      <a:noFill/>
                    </a:lnT>
                    <a:lnB>
                      <a:noFill/>
                    </a:lnB>
                    <a:solidFill>
                      <a:srgbClr val="FDFDFC"/>
                    </a:solidFill>
                  </a:tcPr>
                </a:tc>
                <a:tc>
                  <a:txBody>
                    <a:bodyPr/>
                    <a:lstStyle/>
                    <a:p>
                      <a:pPr algn="l" fontAlgn="t">
                        <a:buNone/>
                      </a:pPr>
                      <a:r>
                        <a:rPr lang="en-US" sz="1000">
                          <a:solidFill>
                            <a:srgbClr val="0A0A0A"/>
                          </a:solidFill>
                          <a:effectLst/>
                          <a:latin typeface="Anthropic Mono"/>
                        </a:rPr>
                        <a:t>window, k</a:t>
                      </a:r>
                      <a:endParaRPr lang="en-US" sz="1000">
                        <a:effectLst/>
                      </a:endParaRPr>
                    </a:p>
                  </a:txBody>
                  <a:tcPr marL="18070" marR="18070" marT="18070" marB="18070">
                    <a:lnL>
                      <a:noFill/>
                    </a:lnL>
                    <a:lnR>
                      <a:noFill/>
                    </a:lnR>
                    <a:lnT>
                      <a:noFill/>
                    </a:lnT>
                    <a:lnB>
                      <a:noFill/>
                    </a:lnB>
                    <a:solidFill>
                      <a:srgbClr val="FDFDFC"/>
                    </a:solidFill>
                  </a:tcPr>
                </a:tc>
                <a:extLst>
                  <a:ext uri="{0D108BD9-81ED-4DB2-BD59-A6C34878D82A}">
                    <a16:rowId xmlns:a16="http://schemas.microsoft.com/office/drawing/2014/main" val="4236475133"/>
                  </a:ext>
                </a:extLst>
              </a:tr>
              <a:tr h="243874">
                <a:tc>
                  <a:txBody>
                    <a:bodyPr/>
                    <a:lstStyle/>
                    <a:p>
                      <a:pPr algn="l" fontAlgn="t">
                        <a:buNone/>
                      </a:pPr>
                      <a:r>
                        <a:rPr lang="en-US" sz="1050" b="1">
                          <a:solidFill>
                            <a:srgbClr val="0A0A0A"/>
                          </a:solidFill>
                          <a:effectLst/>
                          <a:latin typeface="Anthropic Mono"/>
                        </a:rPr>
                        <a:t>PCA_Randomized</a:t>
                      </a:r>
                      <a:endParaRPr lang="en-US" sz="1050" b="1">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solidFill>
                            <a:srgbClr val="0A0A0A"/>
                          </a:solidFill>
                          <a:effectLst/>
                          <a:latin typeface="Anthropic Mono"/>
                        </a:rPr>
                        <a:t>model_pca_eigen_shift.py</a:t>
                      </a:r>
                      <a:endParaRPr lang="en-US" sz="1000">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effectLst/>
                        </a:rPr>
                        <a:t>…same, randomized SVD</a:t>
                      </a:r>
                    </a:p>
                  </a:txBody>
                  <a:tcPr marL="18070" marR="18070" marT="18070" marB="18070">
                    <a:lnL>
                      <a:noFill/>
                    </a:lnL>
                    <a:lnR>
                      <a:noFill/>
                    </a:lnR>
                    <a:lnT>
                      <a:noFill/>
                    </a:lnT>
                    <a:lnB>
                      <a:noFill/>
                    </a:lnB>
                    <a:solidFill>
                      <a:srgbClr val="FDFDFC"/>
                    </a:solidFill>
                  </a:tcPr>
                </a:tc>
                <a:tc>
                  <a:txBody>
                    <a:bodyPr/>
                    <a:lstStyle/>
                    <a:p>
                      <a:pPr algn="l" fontAlgn="t">
                        <a:buNone/>
                      </a:pPr>
                      <a:r>
                        <a:rPr lang="en-US" sz="1000">
                          <a:solidFill>
                            <a:srgbClr val="0A0A0A"/>
                          </a:solidFill>
                          <a:effectLst/>
                          <a:latin typeface="Anthropic Mono"/>
                        </a:rPr>
                        <a:t>window, k</a:t>
                      </a:r>
                      <a:endParaRPr lang="en-US" sz="1000">
                        <a:effectLst/>
                      </a:endParaRPr>
                    </a:p>
                  </a:txBody>
                  <a:tcPr marL="18070" marR="18070" marT="18070" marB="18070">
                    <a:lnL>
                      <a:noFill/>
                    </a:lnL>
                    <a:lnR>
                      <a:noFill/>
                    </a:lnR>
                    <a:lnT>
                      <a:noFill/>
                    </a:lnT>
                    <a:lnB>
                      <a:noFill/>
                    </a:lnB>
                    <a:solidFill>
                      <a:srgbClr val="FDFDFC"/>
                    </a:solidFill>
                  </a:tcPr>
                </a:tc>
                <a:extLst>
                  <a:ext uri="{0D108BD9-81ED-4DB2-BD59-A6C34878D82A}">
                    <a16:rowId xmlns:a16="http://schemas.microsoft.com/office/drawing/2014/main" val="186464499"/>
                  </a:ext>
                </a:extLst>
              </a:tr>
              <a:tr h="243874">
                <a:tc>
                  <a:txBody>
                    <a:bodyPr/>
                    <a:lstStyle/>
                    <a:p>
                      <a:pPr algn="l" fontAlgn="t">
                        <a:buNone/>
                      </a:pPr>
                      <a:r>
                        <a:rPr lang="en-US" sz="1050" b="1">
                          <a:solidFill>
                            <a:srgbClr val="0A0A0A"/>
                          </a:solidFill>
                          <a:effectLst/>
                          <a:latin typeface="Anthropic Mono"/>
                        </a:rPr>
                        <a:t>PCA_Incremental</a:t>
                      </a:r>
                      <a:endParaRPr lang="en-US" sz="1050" b="1">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solidFill>
                            <a:srgbClr val="0A0A0A"/>
                          </a:solidFill>
                          <a:effectLst/>
                          <a:latin typeface="Anthropic Mono"/>
                        </a:rPr>
                        <a:t>model_pca_eigen_shift.py</a:t>
                      </a:r>
                      <a:endParaRPr lang="en-US" sz="1000">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effectLst/>
                        </a:rPr>
                        <a:t>…same, incremental PCA</a:t>
                      </a:r>
                    </a:p>
                  </a:txBody>
                  <a:tcPr marL="18070" marR="18070" marT="18070" marB="18070">
                    <a:lnL>
                      <a:noFill/>
                    </a:lnL>
                    <a:lnR>
                      <a:noFill/>
                    </a:lnR>
                    <a:lnT>
                      <a:noFill/>
                    </a:lnT>
                    <a:lnB>
                      <a:noFill/>
                    </a:lnB>
                    <a:solidFill>
                      <a:srgbClr val="FDFDFC"/>
                    </a:solidFill>
                  </a:tcPr>
                </a:tc>
                <a:tc>
                  <a:txBody>
                    <a:bodyPr/>
                    <a:lstStyle/>
                    <a:p>
                      <a:pPr algn="l" fontAlgn="t">
                        <a:buNone/>
                      </a:pPr>
                      <a:r>
                        <a:rPr lang="en-US" sz="1000" dirty="0">
                          <a:solidFill>
                            <a:srgbClr val="0A0A0A"/>
                          </a:solidFill>
                          <a:effectLst/>
                          <a:latin typeface="Anthropic Mono"/>
                        </a:rPr>
                        <a:t>window, k</a:t>
                      </a:r>
                      <a:endParaRPr lang="en-US" sz="1000" dirty="0">
                        <a:effectLst/>
                      </a:endParaRPr>
                    </a:p>
                  </a:txBody>
                  <a:tcPr marL="18070" marR="18070" marT="18070" marB="18070">
                    <a:lnL>
                      <a:noFill/>
                    </a:lnL>
                    <a:lnR>
                      <a:noFill/>
                    </a:lnR>
                    <a:lnT>
                      <a:noFill/>
                    </a:lnT>
                    <a:lnB>
                      <a:noFill/>
                    </a:lnB>
                    <a:solidFill>
                      <a:srgbClr val="FDFDFC"/>
                    </a:solidFill>
                  </a:tcPr>
                </a:tc>
                <a:extLst>
                  <a:ext uri="{0D108BD9-81ED-4DB2-BD59-A6C34878D82A}">
                    <a16:rowId xmlns:a16="http://schemas.microsoft.com/office/drawing/2014/main" val="2870817836"/>
                  </a:ext>
                </a:extLst>
              </a:tr>
              <a:tr h="531188">
                <a:tc>
                  <a:txBody>
                    <a:bodyPr/>
                    <a:lstStyle/>
                    <a:p>
                      <a:pPr algn="l" fontAlgn="t">
                        <a:buNone/>
                      </a:pPr>
                      <a:r>
                        <a:rPr lang="en-US" sz="1050" b="1">
                          <a:solidFill>
                            <a:srgbClr val="0A0A0A"/>
                          </a:solidFill>
                          <a:effectLst/>
                          <a:latin typeface="Anthropic Mono"/>
                        </a:rPr>
                        <a:t>PCA_Reconstruction</a:t>
                      </a:r>
                      <a:endParaRPr lang="en-US" sz="1050" b="1">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dirty="0">
                          <a:solidFill>
                            <a:srgbClr val="0A0A0A"/>
                          </a:solidFill>
                          <a:effectLst/>
                          <a:latin typeface="Anthropic Mono"/>
                        </a:rPr>
                        <a:t>model_pca_reconstruction.py</a:t>
                      </a:r>
                      <a:endParaRPr lang="en-US" sz="1000" dirty="0">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effectLst/>
                        </a:rPr>
                        <a:t>MSE of reconstructing each window from trained PCA subspace</a:t>
                      </a:r>
                    </a:p>
                  </a:txBody>
                  <a:tcPr marL="18070" marR="18070" marT="18070" marB="18070">
                    <a:lnL>
                      <a:noFill/>
                    </a:lnL>
                    <a:lnR>
                      <a:noFill/>
                    </a:lnR>
                    <a:lnT>
                      <a:noFill/>
                    </a:lnT>
                    <a:lnB>
                      <a:noFill/>
                    </a:lnB>
                    <a:solidFill>
                      <a:srgbClr val="FDFDFC"/>
                    </a:solidFill>
                  </a:tcPr>
                </a:tc>
                <a:tc>
                  <a:txBody>
                    <a:bodyPr/>
                    <a:lstStyle/>
                    <a:p>
                      <a:pPr algn="l" fontAlgn="t">
                        <a:buNone/>
                      </a:pPr>
                      <a:r>
                        <a:rPr lang="en-US" sz="1000">
                          <a:solidFill>
                            <a:srgbClr val="0A0A0A"/>
                          </a:solidFill>
                          <a:effectLst/>
                          <a:latin typeface="Anthropic Mono"/>
                        </a:rPr>
                        <a:t>window, k</a:t>
                      </a:r>
                      <a:endParaRPr lang="en-US" sz="1000">
                        <a:effectLst/>
                      </a:endParaRPr>
                    </a:p>
                  </a:txBody>
                  <a:tcPr marL="18070" marR="18070" marT="18070" marB="18070">
                    <a:lnL>
                      <a:noFill/>
                    </a:lnL>
                    <a:lnR>
                      <a:noFill/>
                    </a:lnR>
                    <a:lnT>
                      <a:noFill/>
                    </a:lnT>
                    <a:lnB>
                      <a:noFill/>
                    </a:lnB>
                    <a:solidFill>
                      <a:srgbClr val="FDFDFC"/>
                    </a:solidFill>
                  </a:tcPr>
                </a:tc>
                <a:extLst>
                  <a:ext uri="{0D108BD9-81ED-4DB2-BD59-A6C34878D82A}">
                    <a16:rowId xmlns:a16="http://schemas.microsoft.com/office/drawing/2014/main" val="1909662860"/>
                  </a:ext>
                </a:extLst>
              </a:tr>
              <a:tr h="315703">
                <a:tc>
                  <a:txBody>
                    <a:bodyPr/>
                    <a:lstStyle/>
                    <a:p>
                      <a:pPr algn="l" fontAlgn="t">
                        <a:buNone/>
                      </a:pPr>
                      <a:r>
                        <a:rPr lang="en-US" sz="1050" b="1">
                          <a:solidFill>
                            <a:srgbClr val="0A0A0A"/>
                          </a:solidFill>
                          <a:effectLst/>
                          <a:latin typeface="Anthropic Mono"/>
                        </a:rPr>
                        <a:t>GraphCorrShift</a:t>
                      </a:r>
                      <a:endParaRPr lang="en-US" sz="1050" b="1">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solidFill>
                            <a:srgbClr val="0A0A0A"/>
                          </a:solidFill>
                          <a:effectLst/>
                          <a:latin typeface="Anthropic Mono"/>
                        </a:rPr>
                        <a:t>model_graph_corr_shift.py</a:t>
                      </a:r>
                      <a:endParaRPr lang="en-US" sz="1000">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effectLst/>
                        </a:rPr>
                        <a:t>L1 change in |corr| adjacency vs baseline</a:t>
                      </a:r>
                    </a:p>
                  </a:txBody>
                  <a:tcPr marL="18070" marR="18070" marT="18070" marB="18070">
                    <a:lnL>
                      <a:noFill/>
                    </a:lnL>
                    <a:lnR>
                      <a:noFill/>
                    </a:lnR>
                    <a:lnT>
                      <a:noFill/>
                    </a:lnT>
                    <a:lnB>
                      <a:noFill/>
                    </a:lnB>
                    <a:solidFill>
                      <a:srgbClr val="FDFDFC"/>
                    </a:solidFill>
                  </a:tcPr>
                </a:tc>
                <a:tc>
                  <a:txBody>
                    <a:bodyPr/>
                    <a:lstStyle/>
                    <a:p>
                      <a:pPr algn="l" fontAlgn="t">
                        <a:buNone/>
                      </a:pPr>
                      <a:r>
                        <a:rPr lang="en-US" sz="1000">
                          <a:solidFill>
                            <a:srgbClr val="0A0A0A"/>
                          </a:solidFill>
                          <a:effectLst/>
                          <a:latin typeface="Anthropic Mono"/>
                        </a:rPr>
                        <a:t>window</a:t>
                      </a:r>
                      <a:endParaRPr lang="en-US" sz="1000">
                        <a:effectLst/>
                      </a:endParaRPr>
                    </a:p>
                  </a:txBody>
                  <a:tcPr marL="18070" marR="18070" marT="18070" marB="18070">
                    <a:lnL>
                      <a:noFill/>
                    </a:lnL>
                    <a:lnR>
                      <a:noFill/>
                    </a:lnR>
                    <a:lnT>
                      <a:noFill/>
                    </a:lnT>
                    <a:lnB>
                      <a:noFill/>
                    </a:lnB>
                    <a:solidFill>
                      <a:srgbClr val="FDFDFC"/>
                    </a:solidFill>
                  </a:tcPr>
                </a:tc>
                <a:extLst>
                  <a:ext uri="{0D108BD9-81ED-4DB2-BD59-A6C34878D82A}">
                    <a16:rowId xmlns:a16="http://schemas.microsoft.com/office/drawing/2014/main" val="1770703342"/>
                  </a:ext>
                </a:extLst>
              </a:tr>
              <a:tr h="674845">
                <a:tc>
                  <a:txBody>
                    <a:bodyPr/>
                    <a:lstStyle/>
                    <a:p>
                      <a:pPr algn="l" fontAlgn="t">
                        <a:buNone/>
                      </a:pPr>
                      <a:r>
                        <a:rPr lang="en-US" sz="1050" b="1">
                          <a:solidFill>
                            <a:srgbClr val="0A0A0A"/>
                          </a:solidFill>
                          <a:effectLst/>
                          <a:latin typeface="Anthropic Mono"/>
                        </a:rPr>
                        <a:t>DeepGraph_GNN</a:t>
                      </a:r>
                      <a:endParaRPr lang="en-US" sz="1050" b="1">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solidFill>
                            <a:srgbClr val="0A0A0A"/>
                          </a:solidFill>
                          <a:effectLst/>
                          <a:latin typeface="Anthropic Mono"/>
                        </a:rPr>
                        <a:t>model_deepgraph_gnn.py</a:t>
                      </a:r>
                      <a:endParaRPr lang="en-US" sz="1000">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effectLst/>
                        </a:rPr>
                        <a:t>GraphConv autoencoder reconstruction error (optional: torch)</a:t>
                      </a:r>
                    </a:p>
                  </a:txBody>
                  <a:tcPr marL="18070" marR="18070" marT="18070" marB="18070">
                    <a:lnL>
                      <a:noFill/>
                    </a:lnL>
                    <a:lnR>
                      <a:noFill/>
                    </a:lnR>
                    <a:lnT>
                      <a:noFill/>
                    </a:lnT>
                    <a:lnB>
                      <a:noFill/>
                    </a:lnB>
                    <a:solidFill>
                      <a:srgbClr val="FDFDFC"/>
                    </a:solidFill>
                  </a:tcPr>
                </a:tc>
                <a:tc>
                  <a:txBody>
                    <a:bodyPr/>
                    <a:lstStyle/>
                    <a:p>
                      <a:pPr algn="l" fontAlgn="t">
                        <a:buNone/>
                      </a:pPr>
                      <a:r>
                        <a:rPr lang="en-US" sz="1000">
                          <a:solidFill>
                            <a:srgbClr val="0A0A0A"/>
                          </a:solidFill>
                          <a:effectLst/>
                          <a:latin typeface="Anthropic Mono"/>
                        </a:rPr>
                        <a:t>window, epochs, corr_threshold, hidden_dim, train_stride, num_train_windows, use_cuda, lr</a:t>
                      </a:r>
                      <a:endParaRPr lang="en-US" sz="1000">
                        <a:effectLst/>
                      </a:endParaRPr>
                    </a:p>
                  </a:txBody>
                  <a:tcPr marL="18070" marR="18070" marT="18070" marB="18070">
                    <a:lnL>
                      <a:noFill/>
                    </a:lnL>
                    <a:lnR>
                      <a:noFill/>
                    </a:lnR>
                    <a:lnT>
                      <a:noFill/>
                    </a:lnT>
                    <a:lnB>
                      <a:noFill/>
                    </a:lnB>
                    <a:solidFill>
                      <a:srgbClr val="FDFDFC"/>
                    </a:solidFill>
                  </a:tcPr>
                </a:tc>
                <a:extLst>
                  <a:ext uri="{0D108BD9-81ED-4DB2-BD59-A6C34878D82A}">
                    <a16:rowId xmlns:a16="http://schemas.microsoft.com/office/drawing/2014/main" val="3866932557"/>
                  </a:ext>
                </a:extLst>
              </a:tr>
              <a:tr h="315703">
                <a:tc>
                  <a:txBody>
                    <a:bodyPr/>
                    <a:lstStyle/>
                    <a:p>
                      <a:pPr algn="l" fontAlgn="t">
                        <a:buNone/>
                      </a:pPr>
                      <a:r>
                        <a:rPr lang="en-US" sz="1050" b="1" dirty="0" err="1">
                          <a:solidFill>
                            <a:srgbClr val="0A0A0A"/>
                          </a:solidFill>
                          <a:effectLst/>
                          <a:latin typeface="Anthropic Mono"/>
                        </a:rPr>
                        <a:t>CorALS</a:t>
                      </a:r>
                      <a:endParaRPr lang="en-US" sz="1050" b="1" dirty="0">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solidFill>
                            <a:srgbClr val="0A0A0A"/>
                          </a:solidFill>
                          <a:effectLst/>
                          <a:latin typeface="Anthropic Mono"/>
                        </a:rPr>
                        <a:t>model_corals.py</a:t>
                      </a:r>
                      <a:endParaRPr lang="en-US" sz="1000">
                        <a:effectLst/>
                      </a:endParaRPr>
                    </a:p>
                  </a:txBody>
                  <a:tcPr marL="18070" marR="18070" marT="18070" marB="18070">
                    <a:lnL>
                      <a:noFill/>
                    </a:lnL>
                    <a:lnR>
                      <a:noFill/>
                    </a:lnR>
                    <a:lnT>
                      <a:noFill/>
                    </a:lnT>
                    <a:lnB>
                      <a:noFill/>
                    </a:lnB>
                    <a:solidFill>
                      <a:srgbClr val="FDFDFC"/>
                    </a:solidFill>
                  </a:tcPr>
                </a:tc>
                <a:tc>
                  <a:txBody>
                    <a:bodyPr/>
                    <a:lstStyle/>
                    <a:p>
                      <a:pPr algn="l" fontAlgn="t">
                        <a:buNone/>
                      </a:pPr>
                      <a:r>
                        <a:rPr lang="en-US" sz="1000">
                          <a:effectLst/>
                        </a:rPr>
                        <a:t>Placeholder (returns zeros) for a future model</a:t>
                      </a:r>
                    </a:p>
                  </a:txBody>
                  <a:tcPr marL="18070" marR="18070" marT="18070" marB="18070">
                    <a:lnL>
                      <a:noFill/>
                    </a:lnL>
                    <a:lnR>
                      <a:noFill/>
                    </a:lnR>
                    <a:lnT>
                      <a:noFill/>
                    </a:lnT>
                    <a:lnB>
                      <a:noFill/>
                    </a:lnB>
                    <a:solidFill>
                      <a:srgbClr val="FDFDFC"/>
                    </a:solidFill>
                  </a:tcPr>
                </a:tc>
                <a:tc>
                  <a:txBody>
                    <a:bodyPr/>
                    <a:lstStyle/>
                    <a:p>
                      <a:pPr algn="l" fontAlgn="t">
                        <a:buNone/>
                      </a:pPr>
                      <a:r>
                        <a:rPr lang="en-US" sz="1000" dirty="0">
                          <a:effectLst/>
                        </a:rPr>
                        <a:t>—</a:t>
                      </a:r>
                    </a:p>
                  </a:txBody>
                  <a:tcPr marL="18070" marR="18070" marT="18070" marB="18070">
                    <a:lnL>
                      <a:noFill/>
                    </a:lnL>
                    <a:lnR>
                      <a:noFill/>
                    </a:lnR>
                    <a:lnT>
                      <a:noFill/>
                    </a:lnT>
                    <a:lnB>
                      <a:noFill/>
                    </a:lnB>
                    <a:solidFill>
                      <a:srgbClr val="FDFDFC"/>
                    </a:solidFill>
                  </a:tcPr>
                </a:tc>
                <a:extLst>
                  <a:ext uri="{0D108BD9-81ED-4DB2-BD59-A6C34878D82A}">
                    <a16:rowId xmlns:a16="http://schemas.microsoft.com/office/drawing/2014/main" val="1666185437"/>
                  </a:ext>
                </a:extLst>
              </a:tr>
            </a:tbl>
          </a:graphicData>
        </a:graphic>
      </p:graphicFrame>
      <p:sp>
        <p:nvSpPr>
          <p:cNvPr id="6" name="TextBox 5">
            <a:extLst>
              <a:ext uri="{FF2B5EF4-FFF2-40B4-BE49-F238E27FC236}">
                <a16:creationId xmlns:a16="http://schemas.microsoft.com/office/drawing/2014/main" id="{00DAC654-327D-8BD5-0877-0BC3FFAA78BE}"/>
              </a:ext>
            </a:extLst>
          </p:cNvPr>
          <p:cNvSpPr txBox="1"/>
          <p:nvPr/>
        </p:nvSpPr>
        <p:spPr>
          <a:xfrm>
            <a:off x="646915" y="5925636"/>
            <a:ext cx="11056250" cy="523220"/>
          </a:xfrm>
          <a:prstGeom prst="rect">
            <a:avLst/>
          </a:prstGeom>
          <a:noFill/>
        </p:spPr>
        <p:txBody>
          <a:bodyPr wrap="square" rtlCol="0">
            <a:spAutoFit/>
          </a:bodyPr>
          <a:lstStyle/>
          <a:p>
            <a:r>
              <a:rPr lang="en-US" sz="1400" dirty="0"/>
              <a:t>(U) Hidden correlation training candidates, currently being evaluated.  All passing algorithms will be added to Infrared AI Library and exposed via API to Agentic engines to automatically identify “What components are acting differently in [time-window]”</a:t>
            </a:r>
          </a:p>
        </p:txBody>
      </p:sp>
      <p:sp>
        <p:nvSpPr>
          <p:cNvPr id="7" name="TextBox 6">
            <a:extLst>
              <a:ext uri="{FF2B5EF4-FFF2-40B4-BE49-F238E27FC236}">
                <a16:creationId xmlns:a16="http://schemas.microsoft.com/office/drawing/2014/main" id="{0D8815C3-7BC9-5736-4761-F7864E7D90FE}"/>
              </a:ext>
            </a:extLst>
          </p:cNvPr>
          <p:cNvSpPr txBox="1"/>
          <p:nvPr/>
        </p:nvSpPr>
        <p:spPr>
          <a:xfrm>
            <a:off x="9340850" y="5645150"/>
            <a:ext cx="1978026" cy="276999"/>
          </a:xfrm>
          <a:prstGeom prst="rect">
            <a:avLst/>
          </a:prstGeom>
          <a:noFill/>
        </p:spPr>
        <p:txBody>
          <a:bodyPr wrap="square" rtlCol="0">
            <a:spAutoFit/>
          </a:bodyPr>
          <a:lstStyle/>
          <a:p>
            <a:pPr algn="r"/>
            <a:r>
              <a:rPr lang="en-US" sz="1200" dirty="0"/>
              <a:t>Table is (U) </a:t>
            </a:r>
          </a:p>
        </p:txBody>
      </p:sp>
    </p:spTree>
    <p:extLst>
      <p:ext uri="{BB962C8B-B14F-4D97-AF65-F5344CB8AC3E}">
        <p14:creationId xmlns:p14="http://schemas.microsoft.com/office/powerpoint/2010/main" val="839010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TotalTime>
  <Words>682</Words>
  <Application>Microsoft Office PowerPoint</Application>
  <PresentationFormat>Widescreen</PresentationFormat>
  <Paragraphs>170</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Anthropic Mono</vt:lpstr>
      <vt:lpstr>Aptos</vt:lpstr>
      <vt:lpstr>Aptos Display</vt:lpstr>
      <vt:lpstr>Arial</vt:lpstr>
      <vt:lpstr>Consolas</vt:lpstr>
      <vt:lpstr>Office Theme</vt:lpstr>
      <vt:lpstr>RF Spectrograph Mode with temporal annotation (per test)</vt:lpstr>
      <vt:lpstr>Spectrum Mode</vt:lpstr>
      <vt:lpstr>Multi-View of Telemetry in Spectrum Model, with freq-annotation</vt:lpstr>
      <vt:lpstr>(U) Tier 1 Model UI</vt:lpstr>
      <vt:lpstr>(U) Advanced Anomaly Detector Algorithms (Factory DGX; in-progress)</vt:lpstr>
      <vt:lpstr>(U) Correlation Algorithms In-Progress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skrinska</dc:creator>
  <cp:lastModifiedBy>james skrinska</cp:lastModifiedBy>
  <cp:revision>1</cp:revision>
  <dcterms:created xsi:type="dcterms:W3CDTF">2026-06-16T23:45:21Z</dcterms:created>
  <dcterms:modified xsi:type="dcterms:W3CDTF">2026-06-17T01:48:00Z</dcterms:modified>
</cp:coreProperties>
</file>